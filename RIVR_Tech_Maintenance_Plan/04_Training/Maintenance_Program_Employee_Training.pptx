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RIVR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EAF3F7"/>
                </a:solidFill>
                <a:latin typeface="Calibri"/>
              </a:rPr>
              <a:t>LREMC Technologies, LLC d/b/a RIVR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Customer-Premises Maintenance Program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EAF3F7"/>
                </a:solidFill>
                <a:latin typeface="Calibri"/>
              </a:rPr>
              <a:t>Employee Training — 60 Minutes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6B39A"/>
                </a:solidFill>
                <a:latin typeface="Calibri"/>
              </a:rPr>
              <a:t>Free network repairs • Fair, documented charges • No surprises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EAF3F7"/>
                </a:solidFill>
                <a:latin typeface="Calibri"/>
              </a:rPr>
              <a:t>v1.0 (Draft for Executive Review)   |   2026-07-20   |   INTERNAL — NOT LEGAL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Today's Agenda (60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0:00–0:05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Why the policy is changing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0:05–0:15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Free vs. billable + the four classifications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0:15–0:25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Remote troubleshooting (deflection)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0:25–0:35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Advance disclosure +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0:35–0:45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Empathetic customer communication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0:45–0:55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Billing, disputes, and waivers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0:55–1:00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Scenario exercises + knowledge check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0" b="1" i="0">
                <a:solidFill>
                  <a:srgbClr val="36B39A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26517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Why the Policy Is Changing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3657600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1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We're Changing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RIVR Tech network and equipment repairs stay FREE — always.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Customer-caused truck rolls cost about $329,004 per year today.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No pricing signal exists to reduce avoidable visits or protect customer gear.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Third-party technicians already charge for premises work.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This is about fairness and capacity — not squeezing customers.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6B7A82"/>
                </a:solidFill>
                <a:latin typeface="Calibri"/>
              </a:rPr>
              <a:t>–  Our job: keep it fair, transparent, and warm.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We lead with what stays free. We never lead with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0" b="1" i="0">
                <a:solidFill>
                  <a:srgbClr val="36B39A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26517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Free vs. Billable + Classifications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3657600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2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Always Free vs. May Be Billable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Always FREE ($0)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May Be Billable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RIVR Tech network outage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Customer-owned router/mesh failure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Failed RIVR Tech ONT /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Customer-damaged wiring or drop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Fiber / normal drop failure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Premises power problem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No trouble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Third-party camera / TV / smart-home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Inconclusive / not reproduced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Requested equipment relocation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Repeat after a RIVR Tech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Missed appointment / denied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2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Four Classifications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Customer Charge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1. RIVR Tech responsibility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$0 — never billed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2. Customer-premises responsibility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Fee may apply — with documented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3. Shared responsibility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Supervisor review — reduced fee or waiver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0222E"/>
                          </a:solidFill>
                          <a:latin typeface="Calibri"/>
                        </a:rPr>
                        <a:t>4. Inconclusive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0222E"/>
                          </a:solidFill>
                          <a:latin typeface="Calibri"/>
                        </a:rPr>
                        <a:t>$0 unless management approves on clear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 fee is NEVER charged just because we sent a technician.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2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Recommended Fees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Residential visit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customer-premises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3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Business visit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customer-premises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6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6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6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Missed appt / denied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often courtesy 1st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89" y="1463040"/>
            <a:ext cx="2567863" cy="2011680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5189" y="1783080"/>
            <a:ext cx="2567863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0B3D5C"/>
                </a:solidFill>
                <a:latin typeface="Calibri"/>
              </a:rPr>
              <a:t>$9.99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629" y="2743200"/>
            <a:ext cx="23849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0222E"/>
                </a:solidFill>
                <a:latin typeface="Calibri"/>
              </a:rPr>
              <a:t>Protection plan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B7A82"/>
                </a:solidFill>
                <a:latin typeface="Calibri"/>
              </a:rPr>
              <a:t>per month, optional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0222E"/>
                </a:solidFill>
                <a:latin typeface="Calibri"/>
              </a:rPr>
              <a:t>•  Extra labor: $35 per 30 min after the first 30 (billable work only).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0222E"/>
                </a:solidFill>
                <a:latin typeface="Calibri"/>
              </a:rPr>
              <a:t>•  Relocation: $95 + materials.  Inside wiring: $75 + materials.  After-hours: +$75.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0222E"/>
                </a:solidFill>
                <a:latin typeface="Calibri"/>
              </a:rPr>
              <a:t>•  First customer-caused incident: one-time educational courtesy waiver when appropriate.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0" b="1" i="0">
                <a:solidFill>
                  <a:srgbClr val="36B39A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26517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Remote Troubleshooting (Deflection)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3657600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3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Strong Triage Before Any Truck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Verify account → check outages → review history &amp; equipment status.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Confirm power, cables, connections. Reboot in order: ONT → gateway → device.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Separate INTERNET from WI-FI. Separate WHOLE-HOME from ONE DEVICE.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Run an approved speed test; request a WIRED test at the gateway.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Identify third-party gear (mesh, firewall, extenders).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Educate when it can be fixed remotely — that's a win, not a failure.</a:t>
            </a:r>
          </a:p>
          <a:p>
            <a:pPr algn="l" lvl="1">
              <a:spcAft>
                <a:spcPts val="800"/>
              </a:spcAft>
            </a:pPr>
            <a:r>
              <a:rPr sz="1400" b="0" i="0">
                <a:solidFill>
                  <a:srgbClr val="6B7A82"/>
                </a:solidFill>
                <a:latin typeface="Calibri"/>
              </a:rPr>
              <a:t>–  If dispatch is needed and it could bill: DISCLOSE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Every avoided truck roll saves about $130. Deflection is the real 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0" b="1" i="0">
                <a:solidFill>
                  <a:srgbClr val="36B39A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26517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Advance Disclosure +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3657600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4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No Surprise Billing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Before any dispatch that could bill, DISCLOSE that a charge may apply.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Record the customer's acknowledgment (call, SMS, email, portal, or work order).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The customer acknowledges only that a charge MAY apply — not that they're at fault.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Technicians document findings, tests, and photos BEFORE any fee.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0222E"/>
                </a:solidFill>
                <a:latin typeface="Calibri"/>
              </a:rPr>
              <a:t>•  Pick the correct ticket + billing code.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6B7A82"/>
                </a:solidFill>
                <a:latin typeface="Calibri"/>
              </a:rPr>
              <a:t>–  No disclosure = no valid charge.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1B8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Findings before fees. Disclosure before dispatch.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4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Technician Documentation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to Capture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Optical, ONT, gateway, wired, wireless results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Bypass customer gear — show RIVR service is healthy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Photograph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Damage, power, wiring conditions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Classify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Correct classification + billing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Explain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Plain language: 'customer-premises issue'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Acknowledge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Capture electronic acknowledgment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Route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Shared/damage/relocation/repeat → supervisor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0" b="1" i="0">
                <a:solidFill>
                  <a:srgbClr val="36B39A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26517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Empathetic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3657600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5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Say This, Not That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Say This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 That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"This is a customer-premises issue."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"This is your fault."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"The RIVR Tech service tested good."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"Your stuff is broken."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"A charge may apply based on findings."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"You're getting charged."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0222E"/>
                          </a:solidFill>
                          <a:latin typeface="Calibri"/>
                        </a:rPr>
                        <a:t>"Let me show you how to fix this."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0222E"/>
                          </a:solidFill>
                          <a:latin typeface="Calibri"/>
                        </a:rPr>
                        <a:t>"Nothing I can do."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Never say 'fault.' We're local, we're helpful, we explain.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0" b="1" i="0">
                <a:solidFill>
                  <a:srgbClr val="36B39A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26517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Billing, Disputes &amp; Waivers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3657600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SEGMENT 6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Disputes &amp; Waivers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Dispute path: frontline explanation → supervisor → technical review → billing adjustment.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No collection action while a dispute is under review.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0222E"/>
                </a:solidFill>
                <a:latin typeface="Calibri"/>
              </a:rPr>
              <a:t>•  Waiver categories you can point to:</a:t>
            </a:r>
          </a:p>
          <a:p>
            <a:pPr algn="l" lvl="1">
              <a:spcAft>
                <a:spcPts val="800"/>
              </a:spcAft>
            </a:pPr>
            <a:r>
              <a:rPr sz="1400" b="0" i="0">
                <a:solidFill>
                  <a:srgbClr val="6B7A82"/>
                </a:solidFill>
                <a:latin typeface="Calibri"/>
              </a:rPr>
              <a:t>–  First-time courtesy • Documentation error • Shared responsibility • Inconclusive</a:t>
            </a:r>
          </a:p>
          <a:p>
            <a:pPr algn="l" lvl="1">
              <a:spcAft>
                <a:spcPts val="800"/>
              </a:spcAft>
            </a:pPr>
            <a:r>
              <a:rPr sz="1400" b="0" i="0">
                <a:solidFill>
                  <a:srgbClr val="6B7A82"/>
                </a:solidFill>
                <a:latin typeface="Calibri"/>
              </a:rPr>
              <a:t>–  Hardship • Reasonable accommodation • Incorrect disclosure • Repeat after RIVR repair • Retention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0222E"/>
                </a:solidFill>
                <a:latin typeface="Calibri"/>
              </a:rPr>
              <a:t>•  Technicians never collect cash and never guarantee a charge will be removed.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0" b="1" i="0">
                <a:solidFill>
                  <a:srgbClr val="36B39A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0" y="26517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Scenario Exercises + Knowledge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3657600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PRACTICE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Scenario Exercises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74320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Classification?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Charge?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Area-wide network outage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RIVR Tech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Customer's own router failed (wired test = plan speed)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Customer-premises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$75 (1st courtesy)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No trouble found, all tests normal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Inconclusive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Customer asks to move a working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Customer-premises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$95 +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Storm-damaged drop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Shared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Supervisor review</a:t>
                      </a:r>
                    </a:p>
                  </a:txBody>
                  <a:tcPr>
                    <a:solidFill>
                      <a:srgbClr val="EAF3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0222E"/>
                          </a:solidFill>
                          <a:latin typeface="Calibri"/>
                        </a:rPr>
                        <a:t>Repeat visit 3 days after our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RIVR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0222E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AF3F7"/>
                </a:solidFill>
                <a:latin typeface="Calibri"/>
              </a:rPr>
              <a:t>ASSESSMENT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RIVR Tech  |  Employee Training  |  v1.0 (Draft for Executive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Complete the 18-question Employee Knowledge Assessment.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Passing score: 80% (15 of 18 correct).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Retakes allowed after quick coaching.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0222E"/>
                </a:solidFill>
                <a:latin typeface="Calibri"/>
              </a:rPr>
              <a:t>•  Keep your Quick Reference Guide handy on every interaction.</a:t>
            </a:r>
          </a:p>
          <a:p>
            <a:pPr algn="l" lvl="1">
              <a:spcAft>
                <a:spcPts val="800"/>
              </a:spcAft>
            </a:pPr>
            <a:r>
              <a:rPr sz="1600" b="0" i="0">
                <a:solidFill>
                  <a:srgbClr val="6B7A82"/>
                </a:solidFill>
                <a:latin typeface="Calibri"/>
              </a:rPr>
              <a:t>–  Questions? Ask your supervisor or the enablement team.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solidFill>
            <a:srgbClr val="36B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42432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Free network repairs. Fair, documented charges. No surprises.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