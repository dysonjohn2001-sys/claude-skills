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RIVR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EAF3F7"/>
                </a:solidFill>
                <a:latin typeface="Calibri"/>
              </a:rPr>
              <a:t>LREMC Technologies, LLC d/b/a RIVR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Customer-Premises Maintenance &amp; Trouble-Visit Program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EAF3F7"/>
                </a:solidFill>
                <a:latin typeface="Calibri"/>
              </a:rPr>
              <a:t>Executive Presentation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6B39A"/>
                </a:solidFill>
                <a:latin typeface="Calibri"/>
              </a:rPr>
              <a:t>Recommendation, financials, and the five decisions we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EAF3F7"/>
                </a:solidFill>
                <a:latin typeface="Calibri"/>
              </a:rPr>
              <a:t>v1.0 (Draft for Executive Review)   |   2026-07-20   |   INTERNAL — NOT LEGAL ADVICE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RIVR Tech  |  Executive Presentation  |  v1.0 (Draft for Executive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0222E"/>
                </a:solidFill>
                <a:latin typeface="Calibri"/>
              </a:rPr>
              <a:t>•  Approve a fair program that keeps ALL network &amp; equipment repairs free.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0222E"/>
                </a:solidFill>
                <a:latin typeface="Calibri"/>
              </a:rPr>
              <a:t>•  Add reasonable charges only for DOCUMENTED customer-premises visits.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0222E"/>
                </a:solidFill>
                <a:latin typeface="Calibri"/>
              </a:rPr>
              <a:t>•  Launch an optional monthly maintenance-protection plan.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0222E"/>
                </a:solidFill>
                <a:latin typeface="Calibri"/>
              </a:rPr>
              <a:t>•  Lead with education, a 30-day grace period, and a first-incident courtesy waiver.</a:t>
            </a:r>
          </a:p>
          <a:p>
            <a:pPr algn="l" lvl="1">
              <a:spcAft>
                <a:spcPts val="800"/>
              </a:spcAft>
            </a:pPr>
            <a:r>
              <a:rPr sz="1600" b="0" i="0">
                <a:solidFill>
                  <a:srgbClr val="6B7A82"/>
                </a:solidFill>
                <a:latin typeface="Calibri"/>
              </a:rPr>
              <a:t>–  Deflection and fairness — not fee revenue — drive the economics.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7424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Recommended: Balanced fees ($75/$125) + $9.99 protection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Problem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RIVR Tech  |  Executive Presentation  |  v1.0 (Draft for Executive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2567863" cy="2011680"/>
          </a:xfrm>
          <a:prstGeom prst="rect">
            <a:avLst/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256786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$130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238498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0222E"/>
                </a:solidFill>
                <a:latin typeface="Calibri"/>
              </a:rPr>
              <a:t>Cost per truck roll</a:t>
            </a:r>
          </a:p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7A82"/>
                </a:solidFill>
                <a:latin typeface="Calibri"/>
              </a:rPr>
              <a:t>loaded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0823" y="1463040"/>
            <a:ext cx="2567863" cy="2011680"/>
          </a:xfrm>
          <a:prstGeom prst="rect">
            <a:avLst/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0823" y="1783080"/>
            <a:ext cx="256786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$1,096,680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263" y="2743200"/>
            <a:ext cx="238498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0222E"/>
                </a:solidFill>
                <a:latin typeface="Calibri"/>
              </a:rPr>
              <a:t>Annual dispatch cost</a:t>
            </a:r>
          </a:p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7A82"/>
                </a:solidFill>
                <a:latin typeface="Calibri"/>
              </a:rPr>
              <a:t>all visits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6" y="1463040"/>
            <a:ext cx="2567863" cy="2011680"/>
          </a:xfrm>
          <a:prstGeom prst="rect">
            <a:avLst/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006" y="1783080"/>
            <a:ext cx="256786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$329,004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6" y="2743200"/>
            <a:ext cx="238498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0222E"/>
                </a:solidFill>
                <a:latin typeface="Calibri"/>
              </a:rPr>
              <a:t>Customer-caused cost</a:t>
            </a:r>
          </a:p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7A82"/>
                </a:solidFill>
                <a:latin typeface="Calibri"/>
              </a:rPr>
              <a:t>absorbed today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75189" y="1463040"/>
            <a:ext cx="2567863" cy="2011680"/>
          </a:xfrm>
          <a:prstGeom prst="rect">
            <a:avLst/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5189" y="1783080"/>
            <a:ext cx="256786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$0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6629" y="2743200"/>
            <a:ext cx="238498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0222E"/>
                </a:solidFill>
                <a:latin typeface="Calibri"/>
              </a:rPr>
              <a:t>Recovery today</a:t>
            </a:r>
          </a:p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7A82"/>
                </a:solidFill>
                <a:latin typeface="Calibri"/>
              </a:rPr>
              <a:t>fully subsidized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0222E"/>
                </a:solidFill>
                <a:latin typeface="Calibri"/>
              </a:rPr>
              <a:t>•  Every customer-caused truck roll is free today — and crowds out network work.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0222E"/>
                </a:solidFill>
                <a:latin typeface="Calibri"/>
              </a:rPr>
              <a:t>•  No incentive for self-service or for protecting customer-owned equipment.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the Customer Experiences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RIVR Tech  |  Executive Presentation  |  v1.0 (Draft for Executive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/>
                <a:gridCol w="36576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Situation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Customer Charge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RIVR Tech network or equipment problem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$0 — always free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Inconclusive / no trouble found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Documented customer-premises visit (residential)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$75 — disclosed first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Documented customer-premises visit (business)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$125 — disclosed 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First customer-caused incident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Courtesy waiver when appropriate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Optional protection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$9.99/month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7424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No surprise billing: we disclose before we dispatch and document before we bill.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Expected Financial Result (Year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RIVR Tech  |  Executive Presentation  |  v1.0 (Draft for Executive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2567863" cy="2011680"/>
          </a:xfrm>
          <a:prstGeom prst="rect">
            <a:avLst/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256786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$97,436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238498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0222E"/>
                </a:solidFill>
                <a:latin typeface="Calibri"/>
              </a:rPr>
              <a:t>Net fee revenue</a:t>
            </a:r>
          </a:p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7A82"/>
                </a:solidFill>
                <a:latin typeface="Calibri"/>
              </a:rPr>
              <a:t>after waivers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0823" y="1463040"/>
            <a:ext cx="2567863" cy="2011680"/>
          </a:xfrm>
          <a:prstGeom prst="rect">
            <a:avLst/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0823" y="1783080"/>
            <a:ext cx="256786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$142,276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263" y="2743200"/>
            <a:ext cx="238498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0222E"/>
                </a:solidFill>
                <a:latin typeface="Calibri"/>
              </a:rPr>
              <a:t>Plan margin</a:t>
            </a:r>
          </a:p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7A82"/>
                </a:solidFill>
                <a:latin typeface="Calibri"/>
              </a:rPr>
              <a:t>contribution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6" y="1463040"/>
            <a:ext cx="2567863" cy="2011680"/>
          </a:xfrm>
          <a:prstGeom prst="rect">
            <a:avLst/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006" y="1783080"/>
            <a:ext cx="256786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$144,300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6" y="2743200"/>
            <a:ext cx="238498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0222E"/>
                </a:solidFill>
                <a:latin typeface="Calibri"/>
              </a:rPr>
              <a:t>Deflection savings</a:t>
            </a:r>
          </a:p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7A82"/>
                </a:solidFill>
                <a:latin typeface="Calibri"/>
              </a:rPr>
              <a:t>avoided rolls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75189" y="1463040"/>
            <a:ext cx="2567863" cy="2011680"/>
          </a:xfrm>
          <a:prstGeom prst="rect">
            <a:avLst/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5189" y="1783080"/>
            <a:ext cx="256786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$245,722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6629" y="2743200"/>
            <a:ext cx="238498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0222E"/>
                </a:solidFill>
                <a:latin typeface="Calibri"/>
              </a:rPr>
              <a:t>Year 1 net</a:t>
            </a:r>
          </a:p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7A82"/>
                </a:solidFill>
                <a:latin typeface="Calibri"/>
              </a:rPr>
              <a:t>payback 3.3 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0222E"/>
                </a:solidFill>
                <a:latin typeface="Calibri"/>
              </a:rPr>
              <a:t>•  Cost recovery of customer-caused dispatch cost: 73%.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0222E"/>
                </a:solidFill>
                <a:latin typeface="Calibri"/>
              </a:rPr>
              <a:t>•  Three-year net financial effect: $978,275.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0222E"/>
                </a:solidFill>
                <a:latin typeface="Calibri"/>
              </a:rPr>
              <a:t>•  Primary driver is avoided truck rolls (deflection), not fees.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solidFill>
            <a:srgbClr val="6B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7424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Model outputs under labeled assumptions — see the financial workbook.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Scenarios: Low / Expected / High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RIVR Tech  |  Executive Presentation  |  v1.0 (Draft for Executive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4592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1920240"/>
                <a:gridCol w="1828800"/>
                <a:gridCol w="1828800"/>
                <a:gridCol w="13716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Net Fees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Plan Margin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Deflection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 1 Net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3-Yr Net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0222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$52,963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$99,593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$86,580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$100,847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$521,917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0222E"/>
                          </a:solidFill>
                          <a:latin typeface="Calibri"/>
                        </a:rPr>
                        <a:t>Expected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$97,436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$142,276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$144,300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$245,722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$978,275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0222E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$142,864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$256,097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$259,740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$520,412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$1,843,546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7424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Even the Low scenario delivers positive three-year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Optional Protection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RIVR Tech  |  Executive Presentation  |  v1.0 (Draft for Executive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55448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Price Point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Annual Revenue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Contribution Margin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222E"/>
                          </a:solidFill>
                          <a:latin typeface="Calibri"/>
                        </a:rPr>
                        <a:t>$7.99/mo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0222E"/>
                          </a:solidFill>
                          <a:latin typeface="Calibri"/>
                        </a:rPr>
                        <a:t>$162,037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0222E"/>
                          </a:solidFill>
                          <a:latin typeface="Calibri"/>
                        </a:rPr>
                        <a:t>$104,150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222E"/>
                          </a:solidFill>
                          <a:latin typeface="Calibri"/>
                        </a:rPr>
                        <a:t>$9.99/mo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0222E"/>
                          </a:solidFill>
                          <a:latin typeface="Calibri"/>
                        </a:rPr>
                        <a:t>$202,597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0222E"/>
                          </a:solidFill>
                          <a:latin typeface="Calibri"/>
                        </a:rPr>
                        <a:t>$142,276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222E"/>
                          </a:solidFill>
                          <a:latin typeface="Calibri"/>
                        </a:rPr>
                        <a:t>$12.99/mo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0222E"/>
                          </a:solidFill>
                          <a:latin typeface="Calibri"/>
                        </a:rPr>
                        <a:t>$263,437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0222E"/>
                          </a:solidFill>
                          <a:latin typeface="Calibri"/>
                        </a:rPr>
                        <a:t>$199,466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84048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0222E"/>
                </a:solidFill>
                <a:latin typeface="Calibri"/>
              </a:rPr>
              <a:t>•  Recommended price: $9.99/month.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0222E"/>
                </a:solidFill>
                <a:latin typeface="Calibri"/>
              </a:rPr>
              <a:t>•  Covers standard premises visits, inside-wiring diagnostics, Wi-Fi education, device help.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0222E"/>
                </a:solidFill>
                <a:latin typeface="Calibri"/>
              </a:rPr>
              <a:t>•  It is a service plan — NOT insurance. Requires legal/insurance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90-Day Phased Rollout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RIVR Tech  |  Executive Presentation  |  v1.0 (Draft for Executive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55448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589520"/>
                <a:gridCol w="2286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Window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Policy, financial validation, legal review, system design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Days 1–40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Employee training and customer education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Days 20–95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30-day warning and courtesy-waiver period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Days 55–85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Full billing implementation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Days 85–90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Performance review and optimization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Days 90–120+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7424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Customers are educated first; billing starts only after a 30-day grace period.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Top Risks &amp;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RIVR Tech  |  Executive Presentation  |  v1.0 (Draft for Executive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55448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152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Reputation / backlash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Education-first, grace period, courtesy waiver, dispute process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Regulatory exposure (NC)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Legal review; documented findings before any charge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Perceived money grab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Fees below market; publish what stays free; emphasize deflection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Insurance mischaracterization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Legal/insurance review of the protection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Employee inconsistency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Mandatory training; coding-accuracy audits; approvals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Five Decisions We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RIVR Tech  |  Executive Presentation  |  v1.0 (Draft for Executive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55448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8503920"/>
                <a:gridCol w="18288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Approve the fee posture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CEO / CFO / COO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Approve the protection-plan launch and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CEO / CFO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Approve the courtesy-waiver and grace period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COO / CX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Approve the effective date and rollout budget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CEO / CFO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Approve legal/regulatory review scope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CEO / General Counsel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7424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Recommended: Balanced fees • $9.99 plan • grace + courtesy • fund ~$95K • authorize legal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RIVR Tech  |  Executive Presentation  |  v1.0 (Draft for Executive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0222E"/>
                </a:solidFill>
                <a:latin typeface="Calibri"/>
              </a:rPr>
              <a:t>•  Approve the Balanced fee posture and the $9.99 protection plan.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0222E"/>
                </a:solidFill>
                <a:latin typeface="Calibri"/>
              </a:rPr>
              <a:t>•  Proceed with the 90-day phased, education-first rollout.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0222E"/>
                </a:solidFill>
                <a:latin typeface="Calibri"/>
              </a:rPr>
              <a:t>•  Expected Year 1 net ≈ $245,722 (payback ≈ 3.3 months).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0222E"/>
                </a:solidFill>
                <a:latin typeface="Calibri"/>
              </a:rPr>
              <a:t>•  Three-year net ≈ $978,275, keeping all network repairs free.</a:t>
            </a:r>
          </a:p>
          <a:p>
            <a:pPr algn="l" lvl="1">
              <a:spcAft>
                <a:spcPts val="800"/>
              </a:spcAft>
            </a:pPr>
            <a:r>
              <a:rPr sz="1600" b="0" i="0">
                <a:solidFill>
                  <a:srgbClr val="6B7A82"/>
                </a:solidFill>
                <a:latin typeface="Calibri"/>
              </a:rPr>
              <a:t>–  Replace the ten data points, complete legal/insurance review, then set the effective date.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7424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Fair to customers. Fair to RIVR Tech. Not legal advice — review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