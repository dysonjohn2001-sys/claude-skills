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give the Board a clear, high-level view of the proposed program, the economics, the customer-protection safeguards, and the decisions we are asking the Board to support. Emphasize this is education-first and reputation-protective, not a revenue grab.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one-sentence framing. The Board's first question is usually 'will this upset our members?' — answer it immediately: network repairs stay free, charges are only for documented customer-caused work, disclosed in advance, with a courtesy waiver and a 30-day grace period.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cost and capacity terms. Stress that doing nothing has a real, recurring cost and that the fee is below typical market rates. Avoid implying members are at fault — use 'customer-premises.'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table top-down so the Board sees 'free' first. The courtesy waiver and advance disclosure are the two safeguards that most reduce member friction.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the reputation risk head-on. Emphasize the cooperative/community relationship — these safeguards exist specifically to protect member trust.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headline: positive Year 1, fast payback, and — critically — the biggest dollar lever is AVOIDED truck rolls from better remote troubleshooting, not the fees themselves. That reframes the program as an efficiency play the Board can support without reputational worry.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Board the floor and the ceiling. The point: this is a low-regret decision — positive across scenarios, with the main benefit being reduced truck rolls.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about risks — the Board will trust the recommendation more. Each risk has a concrete, funded mitigation. The biggest one is reputation, and the grace period + courtesy waiver directly address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mirror the five executive decisions. Frame them as directional endorsements, not operational detail. Emphasize that legal review is a precondition to go-live,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the Board on sequencing: nothing bills until training is done, members are educated, and a grace period has elapsed. Phase 5 brings results back for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cooperative/community value. Restate the permanent free-network-repair promise — it is the trust anchor of the whole program.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D5C"/>
        </a:solidFill>
        <a:effectLst/>
      </p:bgPr>
    </p:bg>
    <p:spTree>
      <p:nvGrpSpPr>
        <p:cNvPr id="1" name=""/>
        <p:cNvGrpSpPr/>
        <p:nvPr/>
      </p:nvGrpSpPr>
      <p:grpSpPr/>
      <p:sp>
        <p:nvSpPr>
          <p:cNvPr id="2" name="Rectangle 1"/>
          <p:cNvSpPr/>
          <p:nvPr/>
        </p:nvSpPr>
        <p:spPr>
          <a:xfrm>
            <a:off x="0" y="2468880"/>
            <a:ext cx="12191695" cy="54864"/>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914400"/>
          </a:xfrm>
          <a:prstGeom prst="rect">
            <a:avLst/>
          </a:prstGeom>
          <a:noFill/>
        </p:spPr>
        <p:txBody>
          <a:bodyPr wrap="none">
            <a:spAutoFit/>
          </a:bodyPr>
          <a:lstStyle/>
          <a:p>
            <a:pPr algn="l">
              <a:spcAft>
                <a:spcPts val="600"/>
              </a:spcAft>
            </a:pPr>
            <a:r>
              <a:rPr sz="4000" b="1" i="0">
                <a:solidFill>
                  <a:srgbClr val="FFFFFF"/>
                </a:solidFill>
                <a:latin typeface="Calibri"/>
              </a:rPr>
              <a:t>RIVR TECH</a:t>
            </a:r>
          </a:p>
        </p:txBody>
      </p:sp>
      <p:sp>
        <p:nvSpPr>
          <p:cNvPr id="4" name="TextBox 3"/>
          <p:cNvSpPr txBox="1"/>
          <p:nvPr/>
        </p:nvSpPr>
        <p:spPr>
          <a:xfrm>
            <a:off x="822960" y="1417320"/>
            <a:ext cx="10515600" cy="457200"/>
          </a:xfrm>
          <a:prstGeom prst="rect">
            <a:avLst/>
          </a:prstGeom>
          <a:noFill/>
        </p:spPr>
        <p:txBody>
          <a:bodyPr wrap="none">
            <a:spAutoFit/>
          </a:bodyPr>
          <a:lstStyle/>
          <a:p>
            <a:pPr algn="l">
              <a:spcAft>
                <a:spcPts val="600"/>
              </a:spcAft>
            </a:pPr>
            <a:r>
              <a:rPr sz="1300" b="0" i="1">
                <a:solidFill>
                  <a:srgbClr val="EAF3F7"/>
                </a:solidFill>
                <a:latin typeface="Calibri"/>
              </a:rPr>
              <a:t>LREMC Technologies, LLC d/b/a RIVR Tech</a:t>
            </a:r>
          </a:p>
        </p:txBody>
      </p:sp>
      <p:sp>
        <p:nvSpPr>
          <p:cNvPr id="5" name="TextBox 4"/>
          <p:cNvSpPr txBox="1"/>
          <p:nvPr/>
        </p:nvSpPr>
        <p:spPr>
          <a:xfrm>
            <a:off x="822960" y="2743200"/>
            <a:ext cx="10515600" cy="2011680"/>
          </a:xfrm>
          <a:prstGeom prst="rect">
            <a:avLst/>
          </a:prstGeom>
          <a:noFill/>
        </p:spPr>
        <p:txBody>
          <a:bodyPr wrap="none">
            <a:spAutoFit/>
          </a:bodyPr>
          <a:lstStyle/>
          <a:p>
            <a:pPr algn="l">
              <a:spcAft>
                <a:spcPts val="600"/>
              </a:spcAft>
            </a:pPr>
            <a:r>
              <a:rPr sz="3200" b="1" i="0">
                <a:solidFill>
                  <a:srgbClr val="FFFFFF"/>
                </a:solidFill>
                <a:latin typeface="Calibri"/>
              </a:rPr>
              <a:t>Customer-Premises Maintenance Program</a:t>
            </a:r>
          </a:p>
          <a:p>
            <a:pPr algn="l">
              <a:spcAft>
                <a:spcPts val="400"/>
              </a:spcAft>
            </a:pPr>
            <a:r>
              <a:rPr sz="1900" b="0" i="0">
                <a:solidFill>
                  <a:srgbClr val="EAF3F7"/>
                </a:solidFill>
                <a:latin typeface="Calibri"/>
              </a:rPr>
              <a:t>Board of Directors — High-Level Talking Points</a:t>
            </a:r>
          </a:p>
          <a:p>
            <a:pPr algn="l">
              <a:spcAft>
                <a:spcPts val="600"/>
              </a:spcAft>
            </a:pPr>
            <a:r>
              <a:rPr sz="1500" b="0" i="0">
                <a:solidFill>
                  <a:srgbClr val="36B39A"/>
                </a:solidFill>
                <a:latin typeface="Calibri"/>
              </a:rPr>
              <a:t>Free network repairs • Fair, documented charges • No surprises</a:t>
            </a:r>
          </a:p>
        </p:txBody>
      </p:sp>
      <p:sp>
        <p:nvSpPr>
          <p:cNvPr id="6" name="TextBox 5"/>
          <p:cNvSpPr txBox="1"/>
          <p:nvPr/>
        </p:nvSpPr>
        <p:spPr>
          <a:xfrm>
            <a:off x="822960" y="5760720"/>
            <a:ext cx="10515600" cy="640080"/>
          </a:xfrm>
          <a:prstGeom prst="rect">
            <a:avLst/>
          </a:prstGeom>
          <a:noFill/>
        </p:spPr>
        <p:txBody>
          <a:bodyPr wrap="none">
            <a:spAutoFit/>
          </a:bodyPr>
          <a:lstStyle/>
          <a:p>
            <a:pPr algn="l">
              <a:spcAft>
                <a:spcPts val="600"/>
              </a:spcAft>
            </a:pPr>
            <a:r>
              <a:rPr sz="1100" b="0" i="1">
                <a:solidFill>
                  <a:srgbClr val="EAF3F7"/>
                </a:solidFill>
                <a:latin typeface="Calibri"/>
              </a:rPr>
              <a:t>v1.0 (Draft for Executive Review)   |   2026-07-20   |   CONFIDENTIAL — NOT LEGAL ADVICE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200"/>
              </a:spcAft>
            </a:pPr>
            <a:r>
              <a:rPr sz="1200" b="1" i="0">
                <a:solidFill>
                  <a:srgbClr val="EAF3F7"/>
                </a:solidFill>
                <a:latin typeface="Calibri"/>
              </a:rPr>
              <a:t>WHY WE'RE HERE</a:t>
            </a:r>
          </a:p>
          <a:p>
            <a:pPr algn="l">
              <a:spcAft>
                <a:spcPts val="600"/>
              </a:spcAft>
            </a:pPr>
            <a:r>
              <a:rPr sz="2600" b="1" i="0">
                <a:solidFill>
                  <a:srgbClr val="FFFFFF"/>
                </a:solidFill>
                <a:latin typeface="Calibri"/>
              </a:rPr>
              <a:t>The Story in One Sentence</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2</a:t>
            </a:r>
          </a:p>
        </p:txBody>
      </p:sp>
      <p:sp>
        <p:nvSpPr>
          <p:cNvPr id="8" name="TextBox 7"/>
          <p:cNvSpPr txBox="1"/>
          <p:nvPr/>
        </p:nvSpPr>
        <p:spPr>
          <a:xfrm>
            <a:off x="640080" y="1554480"/>
            <a:ext cx="10972800" cy="4754880"/>
          </a:xfrm>
          <a:prstGeom prst="rect">
            <a:avLst/>
          </a:prstGeom>
          <a:noFill/>
        </p:spPr>
        <p:txBody>
          <a:bodyPr wrap="square">
            <a:spAutoFit/>
          </a:bodyPr>
          <a:lstStyle/>
          <a:p>
            <a:pPr algn="l">
              <a:spcAft>
                <a:spcPts val="900"/>
              </a:spcAft>
            </a:pPr>
            <a:r>
              <a:rPr sz="2000" b="0" i="0">
                <a:solidFill>
                  <a:srgbClr val="10222E"/>
                </a:solidFill>
                <a:latin typeface="Calibri"/>
              </a:rPr>
              <a:t>•  RIVR Tech will keep every network and equipment repair free — and begin charging a fair, fully documented fee only when a problem is caused on the customer's own premises.</a:t>
            </a:r>
          </a:p>
          <a:p>
            <a:pPr algn="l" lvl="1">
              <a:spcAft>
                <a:spcPts val="900"/>
              </a:spcAft>
            </a:pPr>
            <a:r>
              <a:rPr sz="1800" b="0" i="0">
                <a:solidFill>
                  <a:srgbClr val="6B7A82"/>
                </a:solidFill>
                <a:latin typeface="Calibri"/>
              </a:rPr>
              <a:t>–  This is about fairness and field capacity, not squeezing our members.</a:t>
            </a:r>
          </a:p>
          <a:p>
            <a:pPr algn="l" lvl="1">
              <a:spcAft>
                <a:spcPts val="900"/>
              </a:spcAft>
            </a:pPr>
            <a:r>
              <a:rPr sz="1800" b="0" i="0">
                <a:solidFill>
                  <a:srgbClr val="6B7A82"/>
                </a:solidFill>
                <a:latin typeface="Calibri"/>
              </a:rPr>
              <a:t>–  We lead with what stays free. We never lead with fees.</a:t>
            </a:r>
          </a:p>
        </p:txBody>
      </p:sp>
      <p:sp>
        <p:nvSpPr>
          <p:cNvPr id="9" name="Rectangle 8"/>
          <p:cNvSpPr/>
          <p:nvPr/>
        </p:nvSpPr>
        <p:spPr>
          <a:xfrm>
            <a:off x="640080" y="5669280"/>
            <a:ext cx="10972800" cy="64008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742432"/>
            <a:ext cx="10607040" cy="502920"/>
          </a:xfrm>
          <a:prstGeom prst="rect">
            <a:avLst/>
          </a:prstGeom>
          <a:noFill/>
        </p:spPr>
        <p:txBody>
          <a:bodyPr wrap="none">
            <a:spAutoFit/>
          </a:bodyPr>
          <a:lstStyle/>
          <a:p>
            <a:pPr algn="ctr">
              <a:spcAft>
                <a:spcPts val="600"/>
              </a:spcAft>
            </a:pPr>
            <a:r>
              <a:rPr sz="1300" b="1" i="0">
                <a:solidFill>
                  <a:srgbClr val="FFFFFF"/>
                </a:solidFill>
                <a:latin typeface="Calibri"/>
              </a:rPr>
              <a:t>Fair to customers. Fair to RIVR Tech. Reputation-protective by design.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600"/>
              </a:spcAft>
            </a:pPr>
            <a:r>
              <a:rPr sz="2600" b="1" i="0">
                <a:solidFill>
                  <a:srgbClr val="FFFFFF"/>
                </a:solidFill>
                <a:latin typeface="Calibri"/>
              </a:rPr>
              <a:t>Why Now</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3</a:t>
            </a:r>
          </a:p>
        </p:txBody>
      </p:sp>
      <p:sp>
        <p:nvSpPr>
          <p:cNvPr id="8" name="TextBox 7"/>
          <p:cNvSpPr txBox="1"/>
          <p:nvPr/>
        </p:nvSpPr>
        <p:spPr>
          <a:xfrm>
            <a:off x="640080" y="1371600"/>
            <a:ext cx="10972800" cy="4754880"/>
          </a:xfrm>
          <a:prstGeom prst="rect">
            <a:avLst/>
          </a:prstGeom>
          <a:noFill/>
        </p:spPr>
        <p:txBody>
          <a:bodyPr wrap="square">
            <a:spAutoFit/>
          </a:bodyPr>
          <a:lstStyle/>
          <a:p>
            <a:pPr algn="l">
              <a:spcAft>
                <a:spcPts val="900"/>
              </a:spcAft>
            </a:pPr>
            <a:r>
              <a:rPr sz="1700" b="0" i="0">
                <a:solidFill>
                  <a:srgbClr val="10222E"/>
                </a:solidFill>
                <a:latin typeface="Calibri"/>
              </a:rPr>
              <a:t>•  Today, every service visit is free — even when the cause is customer-owned equipment, wiring, or power.</a:t>
            </a:r>
          </a:p>
          <a:p>
            <a:pPr algn="l">
              <a:spcAft>
                <a:spcPts val="900"/>
              </a:spcAft>
            </a:pPr>
            <a:r>
              <a:rPr sz="1700" b="0" i="0">
                <a:solidFill>
                  <a:srgbClr val="10222E"/>
                </a:solidFill>
                <a:latin typeface="Calibri"/>
              </a:rPr>
              <a:t>•  Customer-caused truck rolls cost an estimated $329,004 per year, fully absorbed by RIVR Tech.</a:t>
            </a:r>
          </a:p>
          <a:p>
            <a:pPr algn="l">
              <a:spcAft>
                <a:spcPts val="900"/>
              </a:spcAft>
            </a:pPr>
            <a:r>
              <a:rPr sz="1700" b="0" i="0">
                <a:solidFill>
                  <a:srgbClr val="10222E"/>
                </a:solidFill>
                <a:latin typeface="Calibri"/>
              </a:rPr>
              <a:t>•  At about $130 per truck roll, these visits divert capacity from real network and installation work.</a:t>
            </a:r>
          </a:p>
          <a:p>
            <a:pPr algn="l">
              <a:spcAft>
                <a:spcPts val="900"/>
              </a:spcAft>
            </a:pPr>
            <a:r>
              <a:rPr sz="1700" b="0" i="0">
                <a:solidFill>
                  <a:srgbClr val="10222E"/>
                </a:solidFill>
                <a:latin typeface="Calibri"/>
              </a:rPr>
              <a:t>•  There is no pricing signal today to encourage self-service or protect customer-owned equipment.</a:t>
            </a:r>
          </a:p>
          <a:p>
            <a:pPr algn="l">
              <a:spcAft>
                <a:spcPts val="900"/>
              </a:spcAft>
            </a:pPr>
            <a:r>
              <a:rPr sz="1700" b="0" i="0">
                <a:solidFill>
                  <a:srgbClr val="10222E"/>
                </a:solidFill>
                <a:latin typeface="Calibri"/>
              </a:rPr>
              <a:t>•  Third-party technicians already charge for this work — our members are often surprised we don't.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600"/>
              </a:spcAft>
            </a:pPr>
            <a:r>
              <a:rPr sz="2600" b="1" i="0">
                <a:solidFill>
                  <a:srgbClr val="FFFFFF"/>
                </a:solidFill>
                <a:latin typeface="Calibri"/>
              </a:rPr>
              <a:t>What Our Members Experience</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4</a:t>
            </a:r>
          </a:p>
        </p:txBody>
      </p:sp>
      <p:graphicFrame>
        <p:nvGraphicFramePr>
          <p:cNvPr id="8" name="Table 7"/>
          <p:cNvGraphicFramePr>
            <a:graphicFrameLocks noGrp="1"/>
          </p:cNvGraphicFramePr>
          <p:nvPr/>
        </p:nvGraphicFramePr>
        <p:xfrm>
          <a:off x="640080" y="1463040"/>
          <a:ext cx="10972800" cy="2560320"/>
        </p:xfrm>
        <a:graphic>
          <a:graphicData uri="http://schemas.openxmlformats.org/drawingml/2006/table">
            <a:tbl>
              <a:tblPr firstRow="1" bandRow="1">
                <a:tableStyleId>{5C22544A-7EE6-4342-B048-85BDC9FD1C3A}</a:tableStyleId>
              </a:tblPr>
              <a:tblGrid>
                <a:gridCol w="7315200"/>
                <a:gridCol w="3657600"/>
              </a:tblGrid>
              <a:tr h="365760">
                <a:tc>
                  <a:txBody>
                    <a:bodyPr/>
                    <a:lstStyle/>
                    <a:p>
                      <a:r>
                        <a:rPr sz="1400" b="1">
                          <a:solidFill>
                            <a:srgbClr val="FFFFFF"/>
                          </a:solidFill>
                          <a:latin typeface="Calibri"/>
                        </a:rPr>
                        <a:t>Situation</a:t>
                      </a:r>
                    </a:p>
                  </a:txBody>
                  <a:tcPr>
                    <a:solidFill>
                      <a:srgbClr val="0B3D5C"/>
                    </a:solidFill>
                  </a:tcPr>
                </a:tc>
                <a:tc>
                  <a:txBody>
                    <a:bodyPr/>
                    <a:lstStyle/>
                    <a:p>
                      <a:r>
                        <a:rPr sz="1400" b="1">
                          <a:solidFill>
                            <a:srgbClr val="FFFFFF"/>
                          </a:solidFill>
                          <a:latin typeface="Calibri"/>
                        </a:rPr>
                        <a:t>Charge</a:t>
                      </a:r>
                    </a:p>
                  </a:txBody>
                  <a:tcPr>
                    <a:solidFill>
                      <a:srgbClr val="0B3D5C"/>
                    </a:solidFill>
                  </a:tcPr>
                </a:tc>
              </a:tr>
              <a:tr h="365760">
                <a:tc>
                  <a:txBody>
                    <a:bodyPr wrap="square"/>
                    <a:lstStyle/>
                    <a:p>
                      <a:r>
                        <a:rPr sz="1300" b="1">
                          <a:solidFill>
                            <a:srgbClr val="10222E"/>
                          </a:solidFill>
                          <a:latin typeface="Calibri"/>
                        </a:rPr>
                        <a:t>RIVR Tech network or equipment problem</a:t>
                      </a:r>
                    </a:p>
                  </a:txBody>
                  <a:tcPr>
                    <a:solidFill>
                      <a:srgbClr val="EAF3F7"/>
                    </a:solidFill>
                  </a:tcPr>
                </a:tc>
                <a:tc>
                  <a:txBody>
                    <a:bodyPr wrap="square"/>
                    <a:lstStyle/>
                    <a:p>
                      <a:r>
                        <a:rPr sz="1300">
                          <a:solidFill>
                            <a:srgbClr val="10222E"/>
                          </a:solidFill>
                          <a:latin typeface="Calibri"/>
                        </a:rPr>
                        <a:t>$0 — always free</a:t>
                      </a:r>
                    </a:p>
                  </a:txBody>
                  <a:tcPr>
                    <a:solidFill>
                      <a:srgbClr val="EAF3F7"/>
                    </a:solidFill>
                  </a:tcPr>
                </a:tc>
              </a:tr>
              <a:tr h="365760">
                <a:tc>
                  <a:txBody>
                    <a:bodyPr wrap="square"/>
                    <a:lstStyle/>
                    <a:p>
                      <a:r>
                        <a:rPr sz="1300" b="1">
                          <a:solidFill>
                            <a:srgbClr val="10222E"/>
                          </a:solidFill>
                          <a:latin typeface="Calibri"/>
                        </a:rPr>
                        <a:t>No trouble found / inconclusive</a:t>
                      </a:r>
                    </a:p>
                  </a:txBody>
                  <a:tcPr>
                    <a:solidFill>
                      <a:srgbClr val="FFFFFF"/>
                    </a:solidFill>
                  </a:tcPr>
                </a:tc>
                <a:tc>
                  <a:txBody>
                    <a:bodyPr wrap="square"/>
                    <a:lstStyle/>
                    <a:p>
                      <a:r>
                        <a:rPr sz="1300">
                          <a:solidFill>
                            <a:srgbClr val="10222E"/>
                          </a:solidFill>
                          <a:latin typeface="Calibri"/>
                        </a:rPr>
                        <a:t>$0</a:t>
                      </a:r>
                    </a:p>
                  </a:txBody>
                  <a:tcPr>
                    <a:solidFill>
                      <a:srgbClr val="FFFFFF"/>
                    </a:solidFill>
                  </a:tcPr>
                </a:tc>
              </a:tr>
              <a:tr h="365760">
                <a:tc>
                  <a:txBody>
                    <a:bodyPr wrap="square"/>
                    <a:lstStyle/>
                    <a:p>
                      <a:r>
                        <a:rPr sz="1300" b="1">
                          <a:solidFill>
                            <a:srgbClr val="10222E"/>
                          </a:solidFill>
                          <a:latin typeface="Calibri"/>
                        </a:rPr>
                        <a:t>Documented customer-premises visit (residential)</a:t>
                      </a:r>
                    </a:p>
                  </a:txBody>
                  <a:tcPr>
                    <a:solidFill>
                      <a:srgbClr val="EAF3F7"/>
                    </a:solidFill>
                  </a:tcPr>
                </a:tc>
                <a:tc>
                  <a:txBody>
                    <a:bodyPr wrap="square"/>
                    <a:lstStyle/>
                    <a:p>
                      <a:r>
                        <a:rPr sz="1300">
                          <a:solidFill>
                            <a:srgbClr val="10222E"/>
                          </a:solidFill>
                          <a:latin typeface="Calibri"/>
                        </a:rPr>
                        <a:t>$75 — disclosed in advance</a:t>
                      </a:r>
                    </a:p>
                  </a:txBody>
                  <a:tcPr>
                    <a:solidFill>
                      <a:srgbClr val="EAF3F7"/>
                    </a:solidFill>
                  </a:tcPr>
                </a:tc>
              </a:tr>
              <a:tr h="365760">
                <a:tc>
                  <a:txBody>
                    <a:bodyPr wrap="square"/>
                    <a:lstStyle/>
                    <a:p>
                      <a:r>
                        <a:rPr sz="1300" b="1">
                          <a:solidFill>
                            <a:srgbClr val="10222E"/>
                          </a:solidFill>
                          <a:latin typeface="Calibri"/>
                        </a:rPr>
                        <a:t>Documented customer-premises visit (business)</a:t>
                      </a:r>
                    </a:p>
                  </a:txBody>
                  <a:tcPr>
                    <a:solidFill>
                      <a:srgbClr val="FFFFFF"/>
                    </a:solidFill>
                  </a:tcPr>
                </a:tc>
                <a:tc>
                  <a:txBody>
                    <a:bodyPr wrap="square"/>
                    <a:lstStyle/>
                    <a:p>
                      <a:r>
                        <a:rPr sz="1300">
                          <a:solidFill>
                            <a:srgbClr val="10222E"/>
                          </a:solidFill>
                          <a:latin typeface="Calibri"/>
                        </a:rPr>
                        <a:t>$125 — disclosed in advance</a:t>
                      </a:r>
                    </a:p>
                  </a:txBody>
                  <a:tcPr>
                    <a:solidFill>
                      <a:srgbClr val="FFFFFF"/>
                    </a:solidFill>
                  </a:tcPr>
                </a:tc>
              </a:tr>
              <a:tr h="365760">
                <a:tc>
                  <a:txBody>
                    <a:bodyPr wrap="square"/>
                    <a:lstStyle/>
                    <a:p>
                      <a:r>
                        <a:rPr sz="1300" b="1">
                          <a:solidFill>
                            <a:srgbClr val="10222E"/>
                          </a:solidFill>
                          <a:latin typeface="Calibri"/>
                        </a:rPr>
                        <a:t>First customer-caused incident</a:t>
                      </a:r>
                    </a:p>
                  </a:txBody>
                  <a:tcPr>
                    <a:solidFill>
                      <a:srgbClr val="EAF3F7"/>
                    </a:solidFill>
                  </a:tcPr>
                </a:tc>
                <a:tc>
                  <a:txBody>
                    <a:bodyPr wrap="square"/>
                    <a:lstStyle/>
                    <a:p>
                      <a:r>
                        <a:rPr sz="1300">
                          <a:solidFill>
                            <a:srgbClr val="10222E"/>
                          </a:solidFill>
                          <a:latin typeface="Calibri"/>
                        </a:rPr>
                        <a:t>Courtesy waiver when appropriate</a:t>
                      </a:r>
                    </a:p>
                  </a:txBody>
                  <a:tcPr>
                    <a:solidFill>
                      <a:srgbClr val="EAF3F7"/>
                    </a:solidFill>
                  </a:tcPr>
                </a:tc>
              </a:tr>
              <a:tr h="365760">
                <a:tc>
                  <a:txBody>
                    <a:bodyPr wrap="square"/>
                    <a:lstStyle/>
                    <a:p>
                      <a:r>
                        <a:rPr sz="1300" b="1">
                          <a:solidFill>
                            <a:srgbClr val="10222E"/>
                          </a:solidFill>
                          <a:latin typeface="Calibri"/>
                        </a:rPr>
                        <a:t>Optional protection plan</a:t>
                      </a:r>
                    </a:p>
                  </a:txBody>
                  <a:tcPr>
                    <a:solidFill>
                      <a:srgbClr val="FFFFFF"/>
                    </a:solidFill>
                  </a:tcPr>
                </a:tc>
                <a:tc>
                  <a:txBody>
                    <a:bodyPr wrap="square"/>
                    <a:lstStyle/>
                    <a:p>
                      <a:r>
                        <a:rPr sz="1300">
                          <a:solidFill>
                            <a:srgbClr val="10222E"/>
                          </a:solidFill>
                          <a:latin typeface="Calibri"/>
                        </a:rPr>
                        <a:t>$9.99/month</a:t>
                      </a:r>
                    </a:p>
                  </a:txBody>
                  <a:tcPr>
                    <a:solidFill>
                      <a:srgbClr val="FFFFFF"/>
                    </a:solidFill>
                  </a:tcPr>
                </a:tc>
              </a:tr>
            </a:tbl>
          </a:graphicData>
        </a:graphic>
      </p:graphicFrame>
      <p:sp>
        <p:nvSpPr>
          <p:cNvPr id="9" name="Rectangle 8"/>
          <p:cNvSpPr/>
          <p:nvPr/>
        </p:nvSpPr>
        <p:spPr>
          <a:xfrm>
            <a:off x="640080" y="5669280"/>
            <a:ext cx="10972800" cy="64008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742432"/>
            <a:ext cx="10607040" cy="502920"/>
          </a:xfrm>
          <a:prstGeom prst="rect">
            <a:avLst/>
          </a:prstGeom>
          <a:noFill/>
        </p:spPr>
        <p:txBody>
          <a:bodyPr wrap="none">
            <a:spAutoFit/>
          </a:bodyPr>
          <a:lstStyle/>
          <a:p>
            <a:pPr algn="ctr">
              <a:spcAft>
                <a:spcPts val="600"/>
              </a:spcAft>
            </a:pPr>
            <a:r>
              <a:rPr sz="1300" b="1" i="0">
                <a:solidFill>
                  <a:srgbClr val="FFFFFF"/>
                </a:solidFill>
                <a:latin typeface="Calibri"/>
              </a:rPr>
              <a:t>No surprise billing: we disclose before we dispatch and document before we bill.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200"/>
              </a:spcAft>
            </a:pPr>
            <a:r>
              <a:rPr sz="1200" b="1" i="0">
                <a:solidFill>
                  <a:srgbClr val="EAF3F7"/>
                </a:solidFill>
                <a:latin typeface="Calibri"/>
              </a:rPr>
              <a:t>REPUTATION SAFEGUARDS</a:t>
            </a:r>
          </a:p>
          <a:p>
            <a:pPr algn="l">
              <a:spcAft>
                <a:spcPts val="600"/>
              </a:spcAft>
            </a:pPr>
            <a:r>
              <a:rPr sz="2600" b="1" i="0">
                <a:solidFill>
                  <a:srgbClr val="FFFFFF"/>
                </a:solidFill>
                <a:latin typeface="Calibri"/>
              </a:rPr>
              <a:t>How Members Are Protected</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5</a:t>
            </a:r>
          </a:p>
        </p:txBody>
      </p:sp>
      <p:sp>
        <p:nvSpPr>
          <p:cNvPr id="8" name="TextBox 7"/>
          <p:cNvSpPr txBox="1"/>
          <p:nvPr/>
        </p:nvSpPr>
        <p:spPr>
          <a:xfrm>
            <a:off x="640080" y="1371600"/>
            <a:ext cx="10972800" cy="4754880"/>
          </a:xfrm>
          <a:prstGeom prst="rect">
            <a:avLst/>
          </a:prstGeom>
          <a:noFill/>
        </p:spPr>
        <p:txBody>
          <a:bodyPr wrap="square">
            <a:spAutoFit/>
          </a:bodyPr>
          <a:lstStyle/>
          <a:p>
            <a:pPr algn="l">
              <a:spcAft>
                <a:spcPts val="900"/>
              </a:spcAft>
            </a:pPr>
            <a:r>
              <a:rPr sz="1700" b="0" i="0">
                <a:solidFill>
                  <a:srgbClr val="10222E"/>
                </a:solidFill>
                <a:latin typeface="Calibri"/>
              </a:rPr>
              <a:t>•  Advance disclosure before any dispatch that could bill — and recorded acknowledgment.</a:t>
            </a:r>
          </a:p>
          <a:p>
            <a:pPr algn="l">
              <a:spcAft>
                <a:spcPts val="900"/>
              </a:spcAft>
            </a:pPr>
            <a:r>
              <a:rPr sz="1700" b="0" i="0">
                <a:solidFill>
                  <a:srgbClr val="10222E"/>
                </a:solidFill>
                <a:latin typeface="Calibri"/>
              </a:rPr>
              <a:t>•  A fee is never charged just because a technician was sent — documented findings are required.</a:t>
            </a:r>
          </a:p>
          <a:p>
            <a:pPr algn="l">
              <a:spcAft>
                <a:spcPts val="900"/>
              </a:spcAft>
            </a:pPr>
            <a:r>
              <a:rPr sz="1700" b="0" i="0">
                <a:solidFill>
                  <a:srgbClr val="10222E"/>
                </a:solidFill>
                <a:latin typeface="Calibri"/>
              </a:rPr>
              <a:t>•  First-incident courtesy waiver, plus hardship and reasonable-accommodation waivers.</a:t>
            </a:r>
          </a:p>
          <a:p>
            <a:pPr algn="l">
              <a:spcAft>
                <a:spcPts val="900"/>
              </a:spcAft>
            </a:pPr>
            <a:r>
              <a:rPr sz="1700" b="0" i="0">
                <a:solidFill>
                  <a:srgbClr val="10222E"/>
                </a:solidFill>
                <a:latin typeface="Calibri"/>
              </a:rPr>
              <a:t>•  A clear dispute and appeal process; no collection action while a dispute is open.</a:t>
            </a:r>
          </a:p>
          <a:p>
            <a:pPr algn="l">
              <a:spcAft>
                <a:spcPts val="900"/>
              </a:spcAft>
            </a:pPr>
            <a:r>
              <a:rPr sz="1700" b="0" i="0">
                <a:solidFill>
                  <a:srgbClr val="10222E"/>
                </a:solidFill>
                <a:latin typeface="Calibri"/>
              </a:rPr>
              <a:t>•  30-day warning-only grace period before any billing begins.</a:t>
            </a:r>
          </a:p>
          <a:p>
            <a:pPr algn="l">
              <a:spcAft>
                <a:spcPts val="900"/>
              </a:spcAft>
            </a:pPr>
            <a:r>
              <a:rPr sz="1700" b="0" i="0">
                <a:solidFill>
                  <a:srgbClr val="10222E"/>
                </a:solidFill>
                <a:latin typeface="Calibri"/>
              </a:rPr>
              <a:t>•  Fees kept below typical third-party service-call rates.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600"/>
              </a:spcAft>
            </a:pPr>
            <a:r>
              <a:rPr sz="2600" b="1" i="0">
                <a:solidFill>
                  <a:srgbClr val="FFFFFF"/>
                </a:solidFill>
                <a:latin typeface="Calibri"/>
              </a:rPr>
              <a:t>The Financial Picture (Expected)</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6</a:t>
            </a:r>
          </a:p>
        </p:txBody>
      </p:sp>
      <p:sp>
        <p:nvSpPr>
          <p:cNvPr id="8" name="Rectangle 7"/>
          <p:cNvSpPr/>
          <p:nvPr/>
        </p:nvSpPr>
        <p:spPr>
          <a:xfrm>
            <a:off x="548640" y="1554480"/>
            <a:ext cx="2567863" cy="1920240"/>
          </a:xfrm>
          <a:prstGeom prst="rect">
            <a:avLst/>
          </a:prstGeom>
          <a:solidFill>
            <a:srgbClr val="EA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28800"/>
            <a:ext cx="2567863" cy="914400"/>
          </a:xfrm>
          <a:prstGeom prst="rect">
            <a:avLst/>
          </a:prstGeom>
          <a:noFill/>
        </p:spPr>
        <p:txBody>
          <a:bodyPr wrap="none">
            <a:spAutoFit/>
          </a:bodyPr>
          <a:lstStyle/>
          <a:p>
            <a:pPr algn="ctr">
              <a:spcAft>
                <a:spcPts val="600"/>
              </a:spcAft>
            </a:pPr>
            <a:r>
              <a:rPr sz="3000" b="1" i="0">
                <a:solidFill>
                  <a:srgbClr val="0B3D5C"/>
                </a:solidFill>
                <a:latin typeface="Calibri"/>
              </a:rPr>
              <a:t>$245,722</a:t>
            </a:r>
          </a:p>
        </p:txBody>
      </p:sp>
      <p:sp>
        <p:nvSpPr>
          <p:cNvPr id="10" name="TextBox 9"/>
          <p:cNvSpPr txBox="1"/>
          <p:nvPr/>
        </p:nvSpPr>
        <p:spPr>
          <a:xfrm>
            <a:off x="640080" y="2743200"/>
            <a:ext cx="2384983" cy="640080"/>
          </a:xfrm>
          <a:prstGeom prst="rect">
            <a:avLst/>
          </a:prstGeom>
          <a:noFill/>
        </p:spPr>
        <p:txBody>
          <a:bodyPr wrap="none">
            <a:spAutoFit/>
          </a:bodyPr>
          <a:lstStyle/>
          <a:p>
            <a:pPr algn="ctr">
              <a:spcAft>
                <a:spcPts val="600"/>
              </a:spcAft>
            </a:pPr>
            <a:r>
              <a:rPr sz="1300" b="1" i="0">
                <a:solidFill>
                  <a:srgbClr val="10222E"/>
                </a:solidFill>
                <a:latin typeface="Calibri"/>
              </a:rPr>
              <a:t>Year 1 net effect</a:t>
            </a:r>
          </a:p>
          <a:p>
            <a:pPr algn="ctr">
              <a:spcAft>
                <a:spcPts val="0"/>
              </a:spcAft>
            </a:pPr>
            <a:r>
              <a:rPr sz="1000" b="0" i="1">
                <a:solidFill>
                  <a:srgbClr val="6B7A82"/>
                </a:solidFill>
                <a:latin typeface="Calibri"/>
              </a:rPr>
              <a:t>payback ~3.3 mo</a:t>
            </a:r>
          </a:p>
        </p:txBody>
      </p:sp>
      <p:sp>
        <p:nvSpPr>
          <p:cNvPr id="11" name="Rectangle 10"/>
          <p:cNvSpPr/>
          <p:nvPr/>
        </p:nvSpPr>
        <p:spPr>
          <a:xfrm>
            <a:off x="3390823" y="1554480"/>
            <a:ext cx="2567863" cy="1920240"/>
          </a:xfrm>
          <a:prstGeom prst="rect">
            <a:avLst/>
          </a:prstGeom>
          <a:solidFill>
            <a:srgbClr val="EA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0823" y="1828800"/>
            <a:ext cx="2567863" cy="914400"/>
          </a:xfrm>
          <a:prstGeom prst="rect">
            <a:avLst/>
          </a:prstGeom>
          <a:noFill/>
        </p:spPr>
        <p:txBody>
          <a:bodyPr wrap="none">
            <a:spAutoFit/>
          </a:bodyPr>
          <a:lstStyle/>
          <a:p>
            <a:pPr algn="ctr">
              <a:spcAft>
                <a:spcPts val="600"/>
              </a:spcAft>
            </a:pPr>
            <a:r>
              <a:rPr sz="3000" b="1" i="0">
                <a:solidFill>
                  <a:srgbClr val="0B3D5C"/>
                </a:solidFill>
                <a:latin typeface="Calibri"/>
              </a:rPr>
              <a:t>$978,275</a:t>
            </a:r>
          </a:p>
        </p:txBody>
      </p:sp>
      <p:sp>
        <p:nvSpPr>
          <p:cNvPr id="13" name="TextBox 12"/>
          <p:cNvSpPr txBox="1"/>
          <p:nvPr/>
        </p:nvSpPr>
        <p:spPr>
          <a:xfrm>
            <a:off x="3482263" y="2743200"/>
            <a:ext cx="2384983" cy="640080"/>
          </a:xfrm>
          <a:prstGeom prst="rect">
            <a:avLst/>
          </a:prstGeom>
          <a:noFill/>
        </p:spPr>
        <p:txBody>
          <a:bodyPr wrap="none">
            <a:spAutoFit/>
          </a:bodyPr>
          <a:lstStyle/>
          <a:p>
            <a:pPr algn="ctr">
              <a:spcAft>
                <a:spcPts val="600"/>
              </a:spcAft>
            </a:pPr>
            <a:r>
              <a:rPr sz="1300" b="1" i="0">
                <a:solidFill>
                  <a:srgbClr val="10222E"/>
                </a:solidFill>
                <a:latin typeface="Calibri"/>
              </a:rPr>
              <a:t>3-year net effect</a:t>
            </a:r>
          </a:p>
          <a:p>
            <a:pPr algn="ctr">
              <a:spcAft>
                <a:spcPts val="0"/>
              </a:spcAft>
            </a:pPr>
            <a:r>
              <a:rPr sz="1000" b="0" i="1">
                <a:solidFill>
                  <a:srgbClr val="6B7A82"/>
                </a:solidFill>
                <a:latin typeface="Calibri"/>
              </a:rPr>
              <a:t>cumulative</a:t>
            </a:r>
          </a:p>
        </p:txBody>
      </p:sp>
      <p:sp>
        <p:nvSpPr>
          <p:cNvPr id="14" name="Rectangle 13"/>
          <p:cNvSpPr/>
          <p:nvPr/>
        </p:nvSpPr>
        <p:spPr>
          <a:xfrm>
            <a:off x="6233006" y="1554480"/>
            <a:ext cx="2567863" cy="1920240"/>
          </a:xfrm>
          <a:prstGeom prst="rect">
            <a:avLst/>
          </a:prstGeom>
          <a:solidFill>
            <a:srgbClr val="EA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3006" y="1828800"/>
            <a:ext cx="2567863" cy="914400"/>
          </a:xfrm>
          <a:prstGeom prst="rect">
            <a:avLst/>
          </a:prstGeom>
          <a:noFill/>
        </p:spPr>
        <p:txBody>
          <a:bodyPr wrap="none">
            <a:spAutoFit/>
          </a:bodyPr>
          <a:lstStyle/>
          <a:p>
            <a:pPr algn="ctr">
              <a:spcAft>
                <a:spcPts val="600"/>
              </a:spcAft>
            </a:pPr>
            <a:r>
              <a:rPr sz="3000" b="1" i="0">
                <a:solidFill>
                  <a:srgbClr val="0B3D5C"/>
                </a:solidFill>
                <a:latin typeface="Calibri"/>
              </a:rPr>
              <a:t>73%</a:t>
            </a:r>
          </a:p>
        </p:txBody>
      </p:sp>
      <p:sp>
        <p:nvSpPr>
          <p:cNvPr id="16" name="TextBox 15"/>
          <p:cNvSpPr txBox="1"/>
          <p:nvPr/>
        </p:nvSpPr>
        <p:spPr>
          <a:xfrm>
            <a:off x="6324446" y="2743200"/>
            <a:ext cx="2384983" cy="640080"/>
          </a:xfrm>
          <a:prstGeom prst="rect">
            <a:avLst/>
          </a:prstGeom>
          <a:noFill/>
        </p:spPr>
        <p:txBody>
          <a:bodyPr wrap="none">
            <a:spAutoFit/>
          </a:bodyPr>
          <a:lstStyle/>
          <a:p>
            <a:pPr algn="ctr">
              <a:spcAft>
                <a:spcPts val="600"/>
              </a:spcAft>
            </a:pPr>
            <a:r>
              <a:rPr sz="1300" b="1" i="0">
                <a:solidFill>
                  <a:srgbClr val="10222E"/>
                </a:solidFill>
                <a:latin typeface="Calibri"/>
              </a:rPr>
              <a:t>Cost recovery</a:t>
            </a:r>
          </a:p>
          <a:p>
            <a:pPr algn="ctr">
              <a:spcAft>
                <a:spcPts val="0"/>
              </a:spcAft>
            </a:pPr>
            <a:r>
              <a:rPr sz="1000" b="0" i="1">
                <a:solidFill>
                  <a:srgbClr val="6B7A82"/>
                </a:solidFill>
                <a:latin typeface="Calibri"/>
              </a:rPr>
              <a:t>of customer-caused cost</a:t>
            </a:r>
          </a:p>
        </p:txBody>
      </p:sp>
      <p:sp>
        <p:nvSpPr>
          <p:cNvPr id="17" name="Rectangle 16"/>
          <p:cNvSpPr/>
          <p:nvPr/>
        </p:nvSpPr>
        <p:spPr>
          <a:xfrm>
            <a:off x="9075189" y="1554480"/>
            <a:ext cx="2567863" cy="1920240"/>
          </a:xfrm>
          <a:prstGeom prst="rect">
            <a:avLst/>
          </a:prstGeom>
          <a:solidFill>
            <a:srgbClr val="EA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189" y="1828800"/>
            <a:ext cx="2567863" cy="914400"/>
          </a:xfrm>
          <a:prstGeom prst="rect">
            <a:avLst/>
          </a:prstGeom>
          <a:noFill/>
        </p:spPr>
        <p:txBody>
          <a:bodyPr wrap="none">
            <a:spAutoFit/>
          </a:bodyPr>
          <a:lstStyle/>
          <a:p>
            <a:pPr algn="ctr">
              <a:spcAft>
                <a:spcPts val="600"/>
              </a:spcAft>
            </a:pPr>
            <a:r>
              <a:rPr sz="3000" b="1" i="0">
                <a:solidFill>
                  <a:srgbClr val="0B3D5C"/>
                </a:solidFill>
                <a:latin typeface="Calibri"/>
              </a:rPr>
              <a:t>Fewer truck rolls</a:t>
            </a:r>
          </a:p>
        </p:txBody>
      </p:sp>
      <p:sp>
        <p:nvSpPr>
          <p:cNvPr id="19" name="TextBox 18"/>
          <p:cNvSpPr txBox="1"/>
          <p:nvPr/>
        </p:nvSpPr>
        <p:spPr>
          <a:xfrm>
            <a:off x="9166629" y="2743200"/>
            <a:ext cx="2384983" cy="640080"/>
          </a:xfrm>
          <a:prstGeom prst="rect">
            <a:avLst/>
          </a:prstGeom>
          <a:noFill/>
        </p:spPr>
        <p:txBody>
          <a:bodyPr wrap="none">
            <a:spAutoFit/>
          </a:bodyPr>
          <a:lstStyle/>
          <a:p>
            <a:pPr algn="ctr">
              <a:spcAft>
                <a:spcPts val="600"/>
              </a:spcAft>
            </a:pPr>
            <a:r>
              <a:rPr sz="1300" b="1" i="0">
                <a:solidFill>
                  <a:srgbClr val="10222E"/>
                </a:solidFill>
                <a:latin typeface="Calibri"/>
              </a:rPr>
              <a:t>Main driver</a:t>
            </a:r>
          </a:p>
          <a:p>
            <a:pPr algn="ctr">
              <a:spcAft>
                <a:spcPts val="0"/>
              </a:spcAft>
            </a:pPr>
            <a:r>
              <a:rPr sz="1000" b="0" i="1">
                <a:solidFill>
                  <a:srgbClr val="6B7A82"/>
                </a:solidFill>
                <a:latin typeface="Calibri"/>
              </a:rPr>
              <a:t>deflection, not fees</a:t>
            </a:r>
          </a:p>
        </p:txBody>
      </p:sp>
      <p:sp>
        <p:nvSpPr>
          <p:cNvPr id="20" name="TextBox 19"/>
          <p:cNvSpPr txBox="1"/>
          <p:nvPr/>
        </p:nvSpPr>
        <p:spPr>
          <a:xfrm>
            <a:off x="640080" y="3840480"/>
            <a:ext cx="10972800" cy="1554480"/>
          </a:xfrm>
          <a:prstGeom prst="rect">
            <a:avLst/>
          </a:prstGeom>
          <a:noFill/>
        </p:spPr>
        <p:txBody>
          <a:bodyPr wrap="square">
            <a:spAutoFit/>
          </a:bodyPr>
          <a:lstStyle/>
          <a:p>
            <a:pPr algn="l">
              <a:spcAft>
                <a:spcPts val="900"/>
              </a:spcAft>
            </a:pPr>
            <a:r>
              <a:rPr sz="1500" b="0" i="0">
                <a:solidFill>
                  <a:srgbClr val="10222E"/>
                </a:solidFill>
                <a:latin typeface="Calibri"/>
              </a:rPr>
              <a:t>•  Net fee revenue ~$97,436; optional protection-plan margin ~$142,276; avoided-truck-roll savings ~$144,300.</a:t>
            </a:r>
          </a:p>
          <a:p>
            <a:pPr algn="l">
              <a:spcAft>
                <a:spcPts val="900"/>
              </a:spcAft>
            </a:pPr>
            <a:r>
              <a:rPr sz="1500" b="0" i="0">
                <a:solidFill>
                  <a:srgbClr val="10222E"/>
                </a:solidFill>
                <a:latin typeface="Calibri"/>
              </a:rPr>
              <a:t>•  Even the conservative (Low) scenario is positive over three years.</a:t>
            </a:r>
          </a:p>
        </p:txBody>
      </p:sp>
      <p:sp>
        <p:nvSpPr>
          <p:cNvPr id="21" name="Rectangle 20"/>
          <p:cNvSpPr/>
          <p:nvPr/>
        </p:nvSpPr>
        <p:spPr>
          <a:xfrm>
            <a:off x="640080" y="5669280"/>
            <a:ext cx="10972800" cy="640080"/>
          </a:xfrm>
          <a:prstGeom prst="rect">
            <a:avLst/>
          </a:prstGeom>
          <a:solidFill>
            <a:srgbClr val="6B7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742432"/>
            <a:ext cx="10607040" cy="502920"/>
          </a:xfrm>
          <a:prstGeom prst="rect">
            <a:avLst/>
          </a:prstGeom>
          <a:noFill/>
        </p:spPr>
        <p:txBody>
          <a:bodyPr wrap="none">
            <a:spAutoFit/>
          </a:bodyPr>
          <a:lstStyle/>
          <a:p>
            <a:pPr algn="ctr">
              <a:spcAft>
                <a:spcPts val="600"/>
              </a:spcAft>
            </a:pPr>
            <a:r>
              <a:rPr sz="1300" b="1" i="0">
                <a:solidFill>
                  <a:srgbClr val="FFFFFF"/>
                </a:solidFill>
                <a:latin typeface="Calibri"/>
              </a:rPr>
              <a:t>Model outputs under labeled assumptions — to be finalized with RIVR Tech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600"/>
              </a:spcAft>
            </a:pPr>
            <a:r>
              <a:rPr sz="2600" b="1" i="0">
                <a:solidFill>
                  <a:srgbClr val="FFFFFF"/>
                </a:solidFill>
                <a:latin typeface="Calibri"/>
              </a:rPr>
              <a:t>Range of Outcomes</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7</a:t>
            </a:r>
          </a:p>
        </p:txBody>
      </p:sp>
      <p:graphicFrame>
        <p:nvGraphicFramePr>
          <p:cNvPr id="8" name="Table 7"/>
          <p:cNvGraphicFramePr>
            <a:graphicFrameLocks noGrp="1"/>
          </p:cNvGraphicFramePr>
          <p:nvPr/>
        </p:nvGraphicFramePr>
        <p:xfrm>
          <a:off x="64008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r>
                        <a:rPr sz="1500" b="1">
                          <a:solidFill>
                            <a:srgbClr val="FFFFFF"/>
                          </a:solidFill>
                          <a:latin typeface="Calibri"/>
                        </a:rPr>
                        <a:t>Scenario</a:t>
                      </a:r>
                    </a:p>
                  </a:txBody>
                  <a:tcPr>
                    <a:solidFill>
                      <a:srgbClr val="0B3D5C"/>
                    </a:solidFill>
                  </a:tcPr>
                </a:tc>
                <a:tc>
                  <a:txBody>
                    <a:bodyPr/>
                    <a:lstStyle/>
                    <a:p>
                      <a:r>
                        <a:rPr sz="1500" b="1">
                          <a:solidFill>
                            <a:srgbClr val="FFFFFF"/>
                          </a:solidFill>
                          <a:latin typeface="Calibri"/>
                        </a:rPr>
                        <a:t>Year 1 Net</a:t>
                      </a:r>
                    </a:p>
                  </a:txBody>
                  <a:tcPr>
                    <a:solidFill>
                      <a:srgbClr val="0B3D5C"/>
                    </a:solidFill>
                  </a:tcPr>
                </a:tc>
                <a:tc>
                  <a:txBody>
                    <a:bodyPr/>
                    <a:lstStyle/>
                    <a:p>
                      <a:r>
                        <a:rPr sz="1500" b="1">
                          <a:solidFill>
                            <a:srgbClr val="FFFFFF"/>
                          </a:solidFill>
                          <a:latin typeface="Calibri"/>
                        </a:rPr>
                        <a:t>3-Year Net</a:t>
                      </a:r>
                    </a:p>
                  </a:txBody>
                  <a:tcPr>
                    <a:solidFill>
                      <a:srgbClr val="0B3D5C"/>
                    </a:solidFill>
                  </a:tcPr>
                </a:tc>
              </a:tr>
              <a:tr h="365760">
                <a:tc>
                  <a:txBody>
                    <a:bodyPr wrap="square"/>
                    <a:lstStyle/>
                    <a:p>
                      <a:r>
                        <a:rPr sz="1400" b="1">
                          <a:solidFill>
                            <a:srgbClr val="10222E"/>
                          </a:solidFill>
                          <a:latin typeface="Calibri"/>
                        </a:rPr>
                        <a:t>Low</a:t>
                      </a:r>
                    </a:p>
                  </a:txBody>
                  <a:tcPr>
                    <a:solidFill>
                      <a:srgbClr val="EAF3F7"/>
                    </a:solidFill>
                  </a:tcPr>
                </a:tc>
                <a:tc>
                  <a:txBody>
                    <a:bodyPr wrap="square"/>
                    <a:lstStyle/>
                    <a:p>
                      <a:r>
                        <a:rPr sz="1400">
                          <a:solidFill>
                            <a:srgbClr val="10222E"/>
                          </a:solidFill>
                          <a:latin typeface="Calibri"/>
                        </a:rPr>
                        <a:t>$100,847</a:t>
                      </a:r>
                    </a:p>
                  </a:txBody>
                  <a:tcPr>
                    <a:solidFill>
                      <a:srgbClr val="EAF3F7"/>
                    </a:solidFill>
                  </a:tcPr>
                </a:tc>
                <a:tc>
                  <a:txBody>
                    <a:bodyPr wrap="square"/>
                    <a:lstStyle/>
                    <a:p>
                      <a:r>
                        <a:rPr sz="1400">
                          <a:solidFill>
                            <a:srgbClr val="10222E"/>
                          </a:solidFill>
                          <a:latin typeface="Calibri"/>
                        </a:rPr>
                        <a:t>$521,917</a:t>
                      </a:r>
                    </a:p>
                  </a:txBody>
                  <a:tcPr>
                    <a:solidFill>
                      <a:srgbClr val="EAF3F7"/>
                    </a:solidFill>
                  </a:tcPr>
                </a:tc>
              </a:tr>
              <a:tr h="365760">
                <a:tc>
                  <a:txBody>
                    <a:bodyPr wrap="square"/>
                    <a:lstStyle/>
                    <a:p>
                      <a:r>
                        <a:rPr sz="1400" b="1">
                          <a:solidFill>
                            <a:srgbClr val="10222E"/>
                          </a:solidFill>
                          <a:latin typeface="Calibri"/>
                        </a:rPr>
                        <a:t>Expected</a:t>
                      </a:r>
                    </a:p>
                  </a:txBody>
                  <a:tcPr>
                    <a:solidFill>
                      <a:srgbClr val="FFFFFF"/>
                    </a:solidFill>
                  </a:tcPr>
                </a:tc>
                <a:tc>
                  <a:txBody>
                    <a:bodyPr wrap="square"/>
                    <a:lstStyle/>
                    <a:p>
                      <a:r>
                        <a:rPr sz="1400">
                          <a:solidFill>
                            <a:srgbClr val="10222E"/>
                          </a:solidFill>
                          <a:latin typeface="Calibri"/>
                        </a:rPr>
                        <a:t>$245,722</a:t>
                      </a:r>
                    </a:p>
                  </a:txBody>
                  <a:tcPr>
                    <a:solidFill>
                      <a:srgbClr val="FFFFFF"/>
                    </a:solidFill>
                  </a:tcPr>
                </a:tc>
                <a:tc>
                  <a:txBody>
                    <a:bodyPr wrap="square"/>
                    <a:lstStyle/>
                    <a:p>
                      <a:r>
                        <a:rPr sz="1400">
                          <a:solidFill>
                            <a:srgbClr val="10222E"/>
                          </a:solidFill>
                          <a:latin typeface="Calibri"/>
                        </a:rPr>
                        <a:t>$978,275</a:t>
                      </a:r>
                    </a:p>
                  </a:txBody>
                  <a:tcPr>
                    <a:solidFill>
                      <a:srgbClr val="FFFFFF"/>
                    </a:solidFill>
                  </a:tcPr>
                </a:tc>
              </a:tr>
              <a:tr h="365760">
                <a:tc>
                  <a:txBody>
                    <a:bodyPr wrap="square"/>
                    <a:lstStyle/>
                    <a:p>
                      <a:r>
                        <a:rPr sz="1400" b="1">
                          <a:solidFill>
                            <a:srgbClr val="10222E"/>
                          </a:solidFill>
                          <a:latin typeface="Calibri"/>
                        </a:rPr>
                        <a:t>High</a:t>
                      </a:r>
                    </a:p>
                  </a:txBody>
                  <a:tcPr>
                    <a:solidFill>
                      <a:srgbClr val="EAF3F7"/>
                    </a:solidFill>
                  </a:tcPr>
                </a:tc>
                <a:tc>
                  <a:txBody>
                    <a:bodyPr wrap="square"/>
                    <a:lstStyle/>
                    <a:p>
                      <a:r>
                        <a:rPr sz="1400">
                          <a:solidFill>
                            <a:srgbClr val="10222E"/>
                          </a:solidFill>
                          <a:latin typeface="Calibri"/>
                        </a:rPr>
                        <a:t>$520,412</a:t>
                      </a:r>
                    </a:p>
                  </a:txBody>
                  <a:tcPr>
                    <a:solidFill>
                      <a:srgbClr val="EAF3F7"/>
                    </a:solidFill>
                  </a:tcPr>
                </a:tc>
                <a:tc>
                  <a:txBody>
                    <a:bodyPr wrap="square"/>
                    <a:lstStyle/>
                    <a:p>
                      <a:r>
                        <a:rPr sz="1400">
                          <a:solidFill>
                            <a:srgbClr val="10222E"/>
                          </a:solidFill>
                          <a:latin typeface="Calibri"/>
                        </a:rPr>
                        <a:t>$1,843,546</a:t>
                      </a:r>
                    </a:p>
                  </a:txBody>
                  <a:tcPr>
                    <a:solidFill>
                      <a:srgbClr val="EAF3F7"/>
                    </a:solidFill>
                  </a:tcPr>
                </a:tc>
              </a:tr>
            </a:tbl>
          </a:graphicData>
        </a:graphic>
      </p:graphicFrame>
      <p:sp>
        <p:nvSpPr>
          <p:cNvPr id="9" name="Rectangle 8"/>
          <p:cNvSpPr/>
          <p:nvPr/>
        </p:nvSpPr>
        <p:spPr>
          <a:xfrm>
            <a:off x="640080" y="5669280"/>
            <a:ext cx="10972800" cy="64008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742432"/>
            <a:ext cx="10607040" cy="502920"/>
          </a:xfrm>
          <a:prstGeom prst="rect">
            <a:avLst/>
          </a:prstGeom>
          <a:noFill/>
        </p:spPr>
        <p:txBody>
          <a:bodyPr wrap="none">
            <a:spAutoFit/>
          </a:bodyPr>
          <a:lstStyle/>
          <a:p>
            <a:pPr algn="ctr">
              <a:spcAft>
                <a:spcPts val="600"/>
              </a:spcAft>
            </a:pPr>
            <a:r>
              <a:rPr sz="1300" b="1" i="0">
                <a:solidFill>
                  <a:srgbClr val="FFFFFF"/>
                </a:solidFill>
                <a:latin typeface="Calibri"/>
              </a:rPr>
              <a:t>Downside is protected; the primary value is operational, not fee revenue.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600"/>
              </a:spcAft>
            </a:pPr>
            <a:r>
              <a:rPr sz="2600" b="1" i="0">
                <a:solidFill>
                  <a:srgbClr val="FFFFFF"/>
                </a:solidFill>
                <a:latin typeface="Calibri"/>
              </a:rPr>
              <a:t>Risks &amp; How We Manage Them</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8</a:t>
            </a:r>
          </a:p>
        </p:txBody>
      </p:sp>
      <p:graphicFrame>
        <p:nvGraphicFramePr>
          <p:cNvPr id="8" name="Table 7"/>
          <p:cNvGraphicFramePr>
            <a:graphicFrameLocks noGrp="1"/>
          </p:cNvGraphicFramePr>
          <p:nvPr/>
        </p:nvGraphicFramePr>
        <p:xfrm>
          <a:off x="640080" y="1371600"/>
          <a:ext cx="10972800" cy="2194560"/>
        </p:xfrm>
        <a:graphic>
          <a:graphicData uri="http://schemas.openxmlformats.org/drawingml/2006/table">
            <a:tbl>
              <a:tblPr firstRow="1" bandRow="1">
                <a:tableStyleId>{5C22544A-7EE6-4342-B048-85BDC9FD1C3A}</a:tableStyleId>
              </a:tblPr>
              <a:tblGrid>
                <a:gridCol w="3657600"/>
                <a:gridCol w="7315200"/>
              </a:tblGrid>
              <a:tr h="365760">
                <a:tc>
                  <a:txBody>
                    <a:bodyPr/>
                    <a:lstStyle/>
                    <a:p>
                      <a:r>
                        <a:rPr sz="1300" b="1">
                          <a:solidFill>
                            <a:srgbClr val="FFFFFF"/>
                          </a:solidFill>
                          <a:latin typeface="Calibri"/>
                        </a:rPr>
                        <a:t>Risk</a:t>
                      </a:r>
                    </a:p>
                  </a:txBody>
                  <a:tcPr>
                    <a:solidFill>
                      <a:srgbClr val="0B3D5C"/>
                    </a:solidFill>
                  </a:tcPr>
                </a:tc>
                <a:tc>
                  <a:txBody>
                    <a:bodyPr/>
                    <a:lstStyle/>
                    <a:p>
                      <a:r>
                        <a:rPr sz="1300" b="1">
                          <a:solidFill>
                            <a:srgbClr val="FFFFFF"/>
                          </a:solidFill>
                          <a:latin typeface="Calibri"/>
                        </a:rPr>
                        <a:t>Mitigation</a:t>
                      </a:r>
                    </a:p>
                  </a:txBody>
                  <a:tcPr>
                    <a:solidFill>
                      <a:srgbClr val="0B3D5C"/>
                    </a:solidFill>
                  </a:tcPr>
                </a:tc>
              </a:tr>
              <a:tr h="365760">
                <a:tc>
                  <a:txBody>
                    <a:bodyPr wrap="square"/>
                    <a:lstStyle/>
                    <a:p>
                      <a:r>
                        <a:rPr sz="1200" b="1">
                          <a:solidFill>
                            <a:srgbClr val="10222E"/>
                          </a:solidFill>
                          <a:latin typeface="Calibri"/>
                        </a:rPr>
                        <a:t>Member backlash / reputation</a:t>
                      </a:r>
                    </a:p>
                  </a:txBody>
                  <a:tcPr>
                    <a:solidFill>
                      <a:srgbClr val="EAF3F7"/>
                    </a:solidFill>
                  </a:tcPr>
                </a:tc>
                <a:tc>
                  <a:txBody>
                    <a:bodyPr wrap="square"/>
                    <a:lstStyle/>
                    <a:p>
                      <a:r>
                        <a:rPr sz="1200">
                          <a:solidFill>
                            <a:srgbClr val="10222E"/>
                          </a:solidFill>
                          <a:latin typeface="Calibri"/>
                        </a:rPr>
                        <a:t>Education-first, 30-day grace, courtesy waiver, warm messaging, dispute process</a:t>
                      </a:r>
                    </a:p>
                  </a:txBody>
                  <a:tcPr>
                    <a:solidFill>
                      <a:srgbClr val="EAF3F7"/>
                    </a:solidFill>
                  </a:tcPr>
                </a:tc>
              </a:tr>
              <a:tr h="365760">
                <a:tc>
                  <a:txBody>
                    <a:bodyPr wrap="square"/>
                    <a:lstStyle/>
                    <a:p>
                      <a:r>
                        <a:rPr sz="1200" b="1">
                          <a:solidFill>
                            <a:srgbClr val="10222E"/>
                          </a:solidFill>
                          <a:latin typeface="Calibri"/>
                        </a:rPr>
                        <a:t>Perceived as a money grab</a:t>
                      </a:r>
                    </a:p>
                  </a:txBody>
                  <a:tcPr>
                    <a:solidFill>
                      <a:srgbClr val="FFFFFF"/>
                    </a:solidFill>
                  </a:tcPr>
                </a:tc>
                <a:tc>
                  <a:txBody>
                    <a:bodyPr wrap="square"/>
                    <a:lstStyle/>
                    <a:p>
                      <a:r>
                        <a:rPr sz="1200">
                          <a:solidFill>
                            <a:srgbClr val="10222E"/>
                          </a:solidFill>
                          <a:latin typeface="Calibri"/>
                        </a:rPr>
                        <a:t>Fees below market; publish what stays free; emphasize deflection over revenue</a:t>
                      </a:r>
                    </a:p>
                  </a:txBody>
                  <a:tcPr>
                    <a:solidFill>
                      <a:srgbClr val="FFFFFF"/>
                    </a:solidFill>
                  </a:tcPr>
                </a:tc>
              </a:tr>
              <a:tr h="365760">
                <a:tc>
                  <a:txBody>
                    <a:bodyPr wrap="square"/>
                    <a:lstStyle/>
                    <a:p>
                      <a:r>
                        <a:rPr sz="1200" b="1">
                          <a:solidFill>
                            <a:srgbClr val="10222E"/>
                          </a:solidFill>
                          <a:latin typeface="Calibri"/>
                        </a:rPr>
                        <a:t>Regulatory / consumer protection (NC)</a:t>
                      </a:r>
                    </a:p>
                  </a:txBody>
                  <a:tcPr>
                    <a:solidFill>
                      <a:srgbClr val="EAF3F7"/>
                    </a:solidFill>
                  </a:tcPr>
                </a:tc>
                <a:tc>
                  <a:txBody>
                    <a:bodyPr wrap="square"/>
                    <a:lstStyle/>
                    <a:p>
                      <a:r>
                        <a:rPr sz="1200">
                          <a:solidFill>
                            <a:srgbClr val="10222E"/>
                          </a:solidFill>
                          <a:latin typeface="Calibri"/>
                        </a:rPr>
                        <a:t>Legal review; documented findings before any charge</a:t>
                      </a:r>
                    </a:p>
                  </a:txBody>
                  <a:tcPr>
                    <a:solidFill>
                      <a:srgbClr val="EAF3F7"/>
                    </a:solidFill>
                  </a:tcPr>
                </a:tc>
              </a:tr>
              <a:tr h="365760">
                <a:tc>
                  <a:txBody>
                    <a:bodyPr wrap="square"/>
                    <a:lstStyle/>
                    <a:p>
                      <a:r>
                        <a:rPr sz="1200" b="1">
                          <a:solidFill>
                            <a:srgbClr val="10222E"/>
                          </a:solidFill>
                          <a:latin typeface="Calibri"/>
                        </a:rPr>
                        <a:t>Protection-plan characterization</a:t>
                      </a:r>
                    </a:p>
                  </a:txBody>
                  <a:tcPr>
                    <a:solidFill>
                      <a:srgbClr val="FFFFFF"/>
                    </a:solidFill>
                  </a:tcPr>
                </a:tc>
                <a:tc>
                  <a:txBody>
                    <a:bodyPr wrap="square"/>
                    <a:lstStyle/>
                    <a:p>
                      <a:r>
                        <a:rPr sz="1200">
                          <a:solidFill>
                            <a:srgbClr val="10222E"/>
                          </a:solidFill>
                          <a:latin typeface="Calibri"/>
                        </a:rPr>
                        <a:t>Legal/insurance review; it is a service plan, not insurance</a:t>
                      </a:r>
                    </a:p>
                  </a:txBody>
                  <a:tcPr>
                    <a:solidFill>
                      <a:srgbClr val="FFFFFF"/>
                    </a:solidFill>
                  </a:tcPr>
                </a:tc>
              </a:tr>
              <a:tr h="365760">
                <a:tc>
                  <a:txBody>
                    <a:bodyPr wrap="square"/>
                    <a:lstStyle/>
                    <a:p>
                      <a:r>
                        <a:rPr sz="1200" b="1">
                          <a:solidFill>
                            <a:srgbClr val="10222E"/>
                          </a:solidFill>
                          <a:latin typeface="Calibri"/>
                        </a:rPr>
                        <a:t>Employee inconsistency</a:t>
                      </a:r>
                    </a:p>
                  </a:txBody>
                  <a:tcPr>
                    <a:solidFill>
                      <a:srgbClr val="EAF3F7"/>
                    </a:solidFill>
                  </a:tcPr>
                </a:tc>
                <a:tc>
                  <a:txBody>
                    <a:bodyPr wrap="square"/>
                    <a:lstStyle/>
                    <a:p>
                      <a:r>
                        <a:rPr sz="1200">
                          <a:solidFill>
                            <a:srgbClr val="10222E"/>
                          </a:solidFill>
                          <a:latin typeface="Calibri"/>
                        </a:rPr>
                        <a:t>Mandatory training, coding audits, supervisor approvals</a:t>
                      </a:r>
                    </a:p>
                  </a:txBody>
                  <a:tcPr>
                    <a:solidFill>
                      <a:srgbClr val="EAF3F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200"/>
              </a:spcAft>
            </a:pPr>
            <a:r>
              <a:rPr sz="1200" b="1" i="0">
                <a:solidFill>
                  <a:srgbClr val="EAF3F7"/>
                </a:solidFill>
                <a:latin typeface="Calibri"/>
              </a:rPr>
              <a:t>DECISIONS</a:t>
            </a:r>
          </a:p>
          <a:p>
            <a:pPr algn="l">
              <a:spcAft>
                <a:spcPts val="600"/>
              </a:spcAft>
            </a:pPr>
            <a:r>
              <a:rPr sz="2600" b="1" i="0">
                <a:solidFill>
                  <a:srgbClr val="FFFFFF"/>
                </a:solidFill>
                <a:latin typeface="Calibri"/>
              </a:rPr>
              <a:t>What We're Asking the Board</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9</a:t>
            </a:r>
          </a:p>
        </p:txBody>
      </p:sp>
      <p:sp>
        <p:nvSpPr>
          <p:cNvPr id="8" name="TextBox 7"/>
          <p:cNvSpPr txBox="1"/>
          <p:nvPr/>
        </p:nvSpPr>
        <p:spPr>
          <a:xfrm>
            <a:off x="640080" y="1371600"/>
            <a:ext cx="10972800" cy="4754880"/>
          </a:xfrm>
          <a:prstGeom prst="rect">
            <a:avLst/>
          </a:prstGeom>
          <a:noFill/>
        </p:spPr>
        <p:txBody>
          <a:bodyPr wrap="square">
            <a:spAutoFit/>
          </a:bodyPr>
          <a:lstStyle/>
          <a:p>
            <a:pPr algn="l">
              <a:spcAft>
                <a:spcPts val="900"/>
              </a:spcAft>
            </a:pPr>
            <a:r>
              <a:rPr sz="1700" b="0" i="0">
                <a:solidFill>
                  <a:srgbClr val="10222E"/>
                </a:solidFill>
                <a:latin typeface="Calibri"/>
              </a:rPr>
              <a:t>•  Endorse the Balanced fee posture ($75 residential / $125 business).</a:t>
            </a:r>
          </a:p>
          <a:p>
            <a:pPr algn="l">
              <a:spcAft>
                <a:spcPts val="900"/>
              </a:spcAft>
            </a:pPr>
            <a:r>
              <a:rPr sz="1700" b="0" i="0">
                <a:solidFill>
                  <a:srgbClr val="10222E"/>
                </a:solidFill>
                <a:latin typeface="Calibri"/>
              </a:rPr>
              <a:t>•  Support launching the optional protection plan at $9.99/month, pending legal/insurance review.</a:t>
            </a:r>
          </a:p>
          <a:p>
            <a:pPr algn="l">
              <a:spcAft>
                <a:spcPts val="900"/>
              </a:spcAft>
            </a:pPr>
            <a:r>
              <a:rPr sz="1700" b="0" i="0">
                <a:solidFill>
                  <a:srgbClr val="10222E"/>
                </a:solidFill>
                <a:latin typeface="Calibri"/>
              </a:rPr>
              <a:t>•  Support the education-first rollout: 30-day grace period + first-incident courtesy waiver.</a:t>
            </a:r>
          </a:p>
          <a:p>
            <a:pPr algn="l">
              <a:spcAft>
                <a:spcPts val="900"/>
              </a:spcAft>
            </a:pPr>
            <a:r>
              <a:rPr sz="1700" b="0" i="0">
                <a:solidFill>
                  <a:srgbClr val="10222E"/>
                </a:solidFill>
                <a:latin typeface="Calibri"/>
              </a:rPr>
              <a:t>•  Approve the one-time implementation investment (~$95,000) and the effective date.</a:t>
            </a:r>
          </a:p>
          <a:p>
            <a:pPr algn="l">
              <a:spcAft>
                <a:spcPts val="900"/>
              </a:spcAft>
            </a:pPr>
            <a:r>
              <a:rPr sz="1700" b="0" i="0">
                <a:solidFill>
                  <a:srgbClr val="10222E"/>
                </a:solidFill>
                <a:latin typeface="Calibri"/>
              </a:rPr>
              <a:t>•  Authorize the NC consumer-protection, tax, and insurance-characterization review.</a:t>
            </a:r>
          </a:p>
        </p:txBody>
      </p:sp>
      <p:sp>
        <p:nvSpPr>
          <p:cNvPr id="9" name="Rectangle 8"/>
          <p:cNvSpPr/>
          <p:nvPr/>
        </p:nvSpPr>
        <p:spPr>
          <a:xfrm>
            <a:off x="640080" y="5669280"/>
            <a:ext cx="10972800" cy="64008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742432"/>
            <a:ext cx="10607040" cy="502920"/>
          </a:xfrm>
          <a:prstGeom prst="rect">
            <a:avLst/>
          </a:prstGeom>
          <a:noFill/>
        </p:spPr>
        <p:txBody>
          <a:bodyPr wrap="none">
            <a:spAutoFit/>
          </a:bodyPr>
          <a:lstStyle/>
          <a:p>
            <a:pPr algn="ctr">
              <a:spcAft>
                <a:spcPts val="600"/>
              </a:spcAft>
            </a:pPr>
            <a:r>
              <a:rPr sz="1300" b="1" i="0">
                <a:solidFill>
                  <a:srgbClr val="FFFFFF"/>
                </a:solidFill>
                <a:latin typeface="Calibri"/>
              </a:rPr>
              <a:t>Five decisions — all reversible except the public commitment to keep network repairs free.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600"/>
              </a:spcAft>
            </a:pPr>
            <a:r>
              <a:rPr sz="2600" b="1" i="0">
                <a:solidFill>
                  <a:srgbClr val="FFFFFF"/>
                </a:solidFill>
                <a:latin typeface="Calibri"/>
              </a:rPr>
              <a:t>Rollout Timeline (90 Days)</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10</a:t>
            </a:r>
          </a:p>
        </p:txBody>
      </p:sp>
      <p:graphicFrame>
        <p:nvGraphicFramePr>
          <p:cNvPr id="8" name="Table 7"/>
          <p:cNvGraphicFramePr>
            <a:graphicFrameLocks noGrp="1"/>
          </p:cNvGraphicFramePr>
          <p:nvPr/>
        </p:nvGraphicFramePr>
        <p:xfrm>
          <a:off x="640080" y="1554480"/>
          <a:ext cx="10972800" cy="2194560"/>
        </p:xfrm>
        <a:graphic>
          <a:graphicData uri="http://schemas.openxmlformats.org/drawingml/2006/table">
            <a:tbl>
              <a:tblPr firstRow="1" bandRow="1">
                <a:tableStyleId>{5C22544A-7EE6-4342-B048-85BDC9FD1C3A}</a:tableStyleId>
              </a:tblPr>
              <a:tblGrid>
                <a:gridCol w="1097280"/>
                <a:gridCol w="7589520"/>
                <a:gridCol w="2286000"/>
              </a:tblGrid>
              <a:tr h="365760">
                <a:tc>
                  <a:txBody>
                    <a:bodyPr/>
                    <a:lstStyle/>
                    <a:p>
                      <a:r>
                        <a:rPr sz="1400" b="1">
                          <a:solidFill>
                            <a:srgbClr val="FFFFFF"/>
                          </a:solidFill>
                          <a:latin typeface="Calibri"/>
                        </a:rPr>
                        <a:t>Phase</a:t>
                      </a:r>
                    </a:p>
                  </a:txBody>
                  <a:tcPr>
                    <a:solidFill>
                      <a:srgbClr val="0B3D5C"/>
                    </a:solidFill>
                  </a:tcPr>
                </a:tc>
                <a:tc>
                  <a:txBody>
                    <a:bodyPr/>
                    <a:lstStyle/>
                    <a:p>
                      <a:r>
                        <a:rPr sz="1400" b="1">
                          <a:solidFill>
                            <a:srgbClr val="FFFFFF"/>
                          </a:solidFill>
                          <a:latin typeface="Calibri"/>
                        </a:rPr>
                        <a:t>Focus</a:t>
                      </a:r>
                    </a:p>
                  </a:txBody>
                  <a:tcPr>
                    <a:solidFill>
                      <a:srgbClr val="0B3D5C"/>
                    </a:solidFill>
                  </a:tcPr>
                </a:tc>
                <a:tc>
                  <a:txBody>
                    <a:bodyPr/>
                    <a:lstStyle/>
                    <a:p>
                      <a:r>
                        <a:rPr sz="1400" b="1">
                          <a:solidFill>
                            <a:srgbClr val="FFFFFF"/>
                          </a:solidFill>
                          <a:latin typeface="Calibri"/>
                        </a:rPr>
                        <a:t>Window</a:t>
                      </a:r>
                    </a:p>
                  </a:txBody>
                  <a:tcPr>
                    <a:solidFill>
                      <a:srgbClr val="0B3D5C"/>
                    </a:solidFill>
                  </a:tcPr>
                </a:tc>
              </a:tr>
              <a:tr h="365760">
                <a:tc>
                  <a:txBody>
                    <a:bodyPr wrap="square"/>
                    <a:lstStyle/>
                    <a:p>
                      <a:r>
                        <a:rPr sz="1300" b="1">
                          <a:solidFill>
                            <a:srgbClr val="10222E"/>
                          </a:solidFill>
                          <a:latin typeface="Calibri"/>
                        </a:rPr>
                        <a:t>1</a:t>
                      </a:r>
                    </a:p>
                  </a:txBody>
                  <a:tcPr>
                    <a:solidFill>
                      <a:srgbClr val="EAF3F7"/>
                    </a:solidFill>
                  </a:tcPr>
                </a:tc>
                <a:tc>
                  <a:txBody>
                    <a:bodyPr wrap="square"/>
                    <a:lstStyle/>
                    <a:p>
                      <a:r>
                        <a:rPr sz="1300">
                          <a:solidFill>
                            <a:srgbClr val="10222E"/>
                          </a:solidFill>
                          <a:latin typeface="Calibri"/>
                        </a:rPr>
                        <a:t>Policy, financial validation, legal review, system design</a:t>
                      </a:r>
                    </a:p>
                  </a:txBody>
                  <a:tcPr>
                    <a:solidFill>
                      <a:srgbClr val="EAF3F7"/>
                    </a:solidFill>
                  </a:tcPr>
                </a:tc>
                <a:tc>
                  <a:txBody>
                    <a:bodyPr wrap="square"/>
                    <a:lstStyle/>
                    <a:p>
                      <a:r>
                        <a:rPr sz="1300">
                          <a:solidFill>
                            <a:srgbClr val="10222E"/>
                          </a:solidFill>
                          <a:latin typeface="Calibri"/>
                        </a:rPr>
                        <a:t>Days 1–40</a:t>
                      </a:r>
                    </a:p>
                  </a:txBody>
                  <a:tcPr>
                    <a:solidFill>
                      <a:srgbClr val="EAF3F7"/>
                    </a:solidFill>
                  </a:tcPr>
                </a:tc>
              </a:tr>
              <a:tr h="365760">
                <a:tc>
                  <a:txBody>
                    <a:bodyPr wrap="square"/>
                    <a:lstStyle/>
                    <a:p>
                      <a:r>
                        <a:rPr sz="1300" b="1">
                          <a:solidFill>
                            <a:srgbClr val="10222E"/>
                          </a:solidFill>
                          <a:latin typeface="Calibri"/>
                        </a:rPr>
                        <a:t>2</a:t>
                      </a:r>
                    </a:p>
                  </a:txBody>
                  <a:tcPr>
                    <a:solidFill>
                      <a:srgbClr val="FFFFFF"/>
                    </a:solidFill>
                  </a:tcPr>
                </a:tc>
                <a:tc>
                  <a:txBody>
                    <a:bodyPr wrap="square"/>
                    <a:lstStyle/>
                    <a:p>
                      <a:r>
                        <a:rPr sz="1300">
                          <a:solidFill>
                            <a:srgbClr val="10222E"/>
                          </a:solidFill>
                          <a:latin typeface="Calibri"/>
                        </a:rPr>
                        <a:t>Employee training and member education</a:t>
                      </a:r>
                    </a:p>
                  </a:txBody>
                  <a:tcPr>
                    <a:solidFill>
                      <a:srgbClr val="FFFFFF"/>
                    </a:solidFill>
                  </a:tcPr>
                </a:tc>
                <a:tc>
                  <a:txBody>
                    <a:bodyPr wrap="square"/>
                    <a:lstStyle/>
                    <a:p>
                      <a:r>
                        <a:rPr sz="1300">
                          <a:solidFill>
                            <a:srgbClr val="10222E"/>
                          </a:solidFill>
                          <a:latin typeface="Calibri"/>
                        </a:rPr>
                        <a:t>Days 20–95</a:t>
                      </a:r>
                    </a:p>
                  </a:txBody>
                  <a:tcPr>
                    <a:solidFill>
                      <a:srgbClr val="FFFFFF"/>
                    </a:solidFill>
                  </a:tcPr>
                </a:tc>
              </a:tr>
              <a:tr h="365760">
                <a:tc>
                  <a:txBody>
                    <a:bodyPr wrap="square"/>
                    <a:lstStyle/>
                    <a:p>
                      <a:r>
                        <a:rPr sz="1300" b="1">
                          <a:solidFill>
                            <a:srgbClr val="10222E"/>
                          </a:solidFill>
                          <a:latin typeface="Calibri"/>
                        </a:rPr>
                        <a:t>3</a:t>
                      </a:r>
                    </a:p>
                  </a:txBody>
                  <a:tcPr>
                    <a:solidFill>
                      <a:srgbClr val="EAF3F7"/>
                    </a:solidFill>
                  </a:tcPr>
                </a:tc>
                <a:tc>
                  <a:txBody>
                    <a:bodyPr wrap="square"/>
                    <a:lstStyle/>
                    <a:p>
                      <a:r>
                        <a:rPr sz="1300">
                          <a:solidFill>
                            <a:srgbClr val="10222E"/>
                          </a:solidFill>
                          <a:latin typeface="Calibri"/>
                        </a:rPr>
                        <a:t>30-day warning-only grace period</a:t>
                      </a:r>
                    </a:p>
                  </a:txBody>
                  <a:tcPr>
                    <a:solidFill>
                      <a:srgbClr val="EAF3F7"/>
                    </a:solidFill>
                  </a:tcPr>
                </a:tc>
                <a:tc>
                  <a:txBody>
                    <a:bodyPr wrap="square"/>
                    <a:lstStyle/>
                    <a:p>
                      <a:r>
                        <a:rPr sz="1300">
                          <a:solidFill>
                            <a:srgbClr val="10222E"/>
                          </a:solidFill>
                          <a:latin typeface="Calibri"/>
                        </a:rPr>
                        <a:t>Days 55–85</a:t>
                      </a:r>
                    </a:p>
                  </a:txBody>
                  <a:tcPr>
                    <a:solidFill>
                      <a:srgbClr val="EAF3F7"/>
                    </a:solidFill>
                  </a:tcPr>
                </a:tc>
              </a:tr>
              <a:tr h="365760">
                <a:tc>
                  <a:txBody>
                    <a:bodyPr wrap="square"/>
                    <a:lstStyle/>
                    <a:p>
                      <a:r>
                        <a:rPr sz="1300" b="1">
                          <a:solidFill>
                            <a:srgbClr val="10222E"/>
                          </a:solidFill>
                          <a:latin typeface="Calibri"/>
                        </a:rPr>
                        <a:t>4</a:t>
                      </a:r>
                    </a:p>
                  </a:txBody>
                  <a:tcPr>
                    <a:solidFill>
                      <a:srgbClr val="FFFFFF"/>
                    </a:solidFill>
                  </a:tcPr>
                </a:tc>
                <a:tc>
                  <a:txBody>
                    <a:bodyPr wrap="square"/>
                    <a:lstStyle/>
                    <a:p>
                      <a:r>
                        <a:rPr sz="1300">
                          <a:solidFill>
                            <a:srgbClr val="10222E"/>
                          </a:solidFill>
                          <a:latin typeface="Calibri"/>
                        </a:rPr>
                        <a:t>Full billing begins</a:t>
                      </a:r>
                    </a:p>
                  </a:txBody>
                  <a:tcPr>
                    <a:solidFill>
                      <a:srgbClr val="FFFFFF"/>
                    </a:solidFill>
                  </a:tcPr>
                </a:tc>
                <a:tc>
                  <a:txBody>
                    <a:bodyPr wrap="square"/>
                    <a:lstStyle/>
                    <a:p>
                      <a:r>
                        <a:rPr sz="1300">
                          <a:solidFill>
                            <a:srgbClr val="10222E"/>
                          </a:solidFill>
                          <a:latin typeface="Calibri"/>
                        </a:rPr>
                        <a:t>Days 85–90</a:t>
                      </a:r>
                    </a:p>
                  </a:txBody>
                  <a:tcPr>
                    <a:solidFill>
                      <a:srgbClr val="FFFFFF"/>
                    </a:solidFill>
                  </a:tcPr>
                </a:tc>
              </a:tr>
              <a:tr h="365760">
                <a:tc>
                  <a:txBody>
                    <a:bodyPr wrap="square"/>
                    <a:lstStyle/>
                    <a:p>
                      <a:r>
                        <a:rPr sz="1300" b="1">
                          <a:solidFill>
                            <a:srgbClr val="10222E"/>
                          </a:solidFill>
                          <a:latin typeface="Calibri"/>
                        </a:rPr>
                        <a:t>5</a:t>
                      </a:r>
                    </a:p>
                  </a:txBody>
                  <a:tcPr>
                    <a:solidFill>
                      <a:srgbClr val="EAF3F7"/>
                    </a:solidFill>
                  </a:tcPr>
                </a:tc>
                <a:tc>
                  <a:txBody>
                    <a:bodyPr wrap="square"/>
                    <a:lstStyle/>
                    <a:p>
                      <a:r>
                        <a:rPr sz="1300">
                          <a:solidFill>
                            <a:srgbClr val="10222E"/>
                          </a:solidFill>
                          <a:latin typeface="Calibri"/>
                        </a:rPr>
                        <a:t>Performance review and optimization</a:t>
                      </a:r>
                    </a:p>
                  </a:txBody>
                  <a:tcPr>
                    <a:solidFill>
                      <a:srgbClr val="EAF3F7"/>
                    </a:solidFill>
                  </a:tcPr>
                </a:tc>
                <a:tc>
                  <a:txBody>
                    <a:bodyPr wrap="square"/>
                    <a:lstStyle/>
                    <a:p>
                      <a:r>
                        <a:rPr sz="1300">
                          <a:solidFill>
                            <a:srgbClr val="10222E"/>
                          </a:solidFill>
                          <a:latin typeface="Calibri"/>
                        </a:rPr>
                        <a:t>Days 90+</a:t>
                      </a:r>
                    </a:p>
                  </a:txBody>
                  <a:tcPr>
                    <a:solidFill>
                      <a:srgbClr val="EAF3F7"/>
                    </a:solidFill>
                  </a:tcPr>
                </a:tc>
              </a:tr>
            </a:tbl>
          </a:graphicData>
        </a:graphic>
      </p:graphicFrame>
      <p:sp>
        <p:nvSpPr>
          <p:cNvPr id="9" name="Rectangle 8"/>
          <p:cNvSpPr/>
          <p:nvPr/>
        </p:nvSpPr>
        <p:spPr>
          <a:xfrm>
            <a:off x="640080" y="5669280"/>
            <a:ext cx="10972800" cy="64008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742432"/>
            <a:ext cx="10607040" cy="502920"/>
          </a:xfrm>
          <a:prstGeom prst="rect">
            <a:avLst/>
          </a:prstGeom>
          <a:noFill/>
        </p:spPr>
        <p:txBody>
          <a:bodyPr wrap="none">
            <a:spAutoFit/>
          </a:bodyPr>
          <a:lstStyle/>
          <a:p>
            <a:pPr algn="ctr">
              <a:spcAft>
                <a:spcPts val="600"/>
              </a:spcAft>
            </a:pPr>
            <a:r>
              <a:rPr sz="1300" b="1" i="0">
                <a:solidFill>
                  <a:srgbClr val="FFFFFF"/>
                </a:solidFill>
                <a:latin typeface="Calibri"/>
              </a:rPr>
              <a:t>Members are educated first; billing starts only after a 30-day grace period.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6B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1064240" cy="868680"/>
          </a:xfrm>
          <a:prstGeom prst="rect">
            <a:avLst/>
          </a:prstGeom>
          <a:noFill/>
        </p:spPr>
        <p:txBody>
          <a:bodyPr wrap="none">
            <a:spAutoFit/>
          </a:bodyPr>
          <a:lstStyle/>
          <a:p>
            <a:pPr algn="l">
              <a:spcAft>
                <a:spcPts val="600"/>
              </a:spcAft>
            </a:pPr>
            <a:r>
              <a:rPr sz="2600" b="1" i="0">
                <a:solidFill>
                  <a:srgbClr val="FFFFFF"/>
                </a:solidFill>
                <a:latin typeface="Calibri"/>
              </a:rPr>
              <a:t>Recommendation</a:t>
            </a:r>
          </a:p>
        </p:txBody>
      </p:sp>
      <p:sp>
        <p:nvSpPr>
          <p:cNvPr id="5" name="Rectangle 4"/>
          <p:cNvSpPr/>
          <p:nvPr/>
        </p:nvSpPr>
        <p:spPr>
          <a:xfrm>
            <a:off x="0" y="6492240"/>
            <a:ext cx="12191695" cy="36576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0058400" cy="320040"/>
          </a:xfrm>
          <a:prstGeom prst="rect">
            <a:avLst/>
          </a:prstGeom>
          <a:noFill/>
        </p:spPr>
        <p:txBody>
          <a:bodyPr wrap="none">
            <a:spAutoFit/>
          </a:bodyPr>
          <a:lstStyle/>
          <a:p>
            <a:pPr algn="l">
              <a:spcAft>
                <a:spcPts val="600"/>
              </a:spcAft>
            </a:pPr>
            <a:r>
              <a:rPr sz="900" b="0" i="0">
                <a:solidFill>
                  <a:srgbClr val="FFFFFF"/>
                </a:solidFill>
                <a:latin typeface="Calibri"/>
              </a:rPr>
              <a:t>RIVR Tech  |  Board of Directors — Maintenance Program  |  Confidential Draft</a:t>
            </a:r>
          </a:p>
        </p:txBody>
      </p:sp>
      <p:sp>
        <p:nvSpPr>
          <p:cNvPr id="7" name="TextBox 6"/>
          <p:cNvSpPr txBox="1"/>
          <p:nvPr/>
        </p:nvSpPr>
        <p:spPr>
          <a:xfrm>
            <a:off x="11338560" y="6510528"/>
            <a:ext cx="731520" cy="320040"/>
          </a:xfrm>
          <a:prstGeom prst="rect">
            <a:avLst/>
          </a:prstGeom>
          <a:noFill/>
        </p:spPr>
        <p:txBody>
          <a:bodyPr wrap="none">
            <a:spAutoFit/>
          </a:bodyPr>
          <a:lstStyle/>
          <a:p>
            <a:pPr algn="r">
              <a:spcAft>
                <a:spcPts val="600"/>
              </a:spcAft>
            </a:pPr>
            <a:r>
              <a:rPr sz="900" b="0" i="0">
                <a:solidFill>
                  <a:srgbClr val="FFFFFF"/>
                </a:solidFill>
                <a:latin typeface="Calibri"/>
              </a:rPr>
              <a:t>11</a:t>
            </a:r>
          </a:p>
        </p:txBody>
      </p:sp>
      <p:sp>
        <p:nvSpPr>
          <p:cNvPr id="8" name="TextBox 7"/>
          <p:cNvSpPr txBox="1"/>
          <p:nvPr/>
        </p:nvSpPr>
        <p:spPr>
          <a:xfrm>
            <a:off x="640080" y="1463040"/>
            <a:ext cx="10972800" cy="4754880"/>
          </a:xfrm>
          <a:prstGeom prst="rect">
            <a:avLst/>
          </a:prstGeom>
          <a:noFill/>
        </p:spPr>
        <p:txBody>
          <a:bodyPr wrap="square">
            <a:spAutoFit/>
          </a:bodyPr>
          <a:lstStyle/>
          <a:p>
            <a:pPr algn="l">
              <a:spcAft>
                <a:spcPts val="900"/>
              </a:spcAft>
            </a:pPr>
            <a:r>
              <a:rPr sz="1800" b="0" i="0">
                <a:solidFill>
                  <a:srgbClr val="10222E"/>
                </a:solidFill>
                <a:latin typeface="Calibri"/>
              </a:rPr>
              <a:t>•  Approve the Balanced posture and the optional $9.99 protection plan.</a:t>
            </a:r>
          </a:p>
          <a:p>
            <a:pPr algn="l">
              <a:spcAft>
                <a:spcPts val="900"/>
              </a:spcAft>
            </a:pPr>
            <a:r>
              <a:rPr sz="1800" b="0" i="0">
                <a:solidFill>
                  <a:srgbClr val="10222E"/>
                </a:solidFill>
                <a:latin typeface="Calibri"/>
              </a:rPr>
              <a:t>•  Proceed with the 90-day, education-first rollout, contingent on legal sign-off.</a:t>
            </a:r>
          </a:p>
          <a:p>
            <a:pPr algn="l">
              <a:spcAft>
                <a:spcPts val="900"/>
              </a:spcAft>
            </a:pPr>
            <a:r>
              <a:rPr sz="1800" b="0" i="0">
                <a:solidFill>
                  <a:srgbClr val="10222E"/>
                </a:solidFill>
                <a:latin typeface="Calibri"/>
              </a:rPr>
              <a:t>•  Expected Year 1 net ~$245,722; three-year net ~$978,275.</a:t>
            </a:r>
          </a:p>
          <a:p>
            <a:pPr algn="l">
              <a:spcAft>
                <a:spcPts val="900"/>
              </a:spcAft>
            </a:pPr>
            <a:r>
              <a:rPr sz="1800" b="0" i="0">
                <a:solidFill>
                  <a:srgbClr val="10222E"/>
                </a:solidFill>
                <a:latin typeface="Calibri"/>
              </a:rPr>
              <a:t>•  Keep every RIVR Tech network and equipment repair free — permanently.</a:t>
            </a:r>
          </a:p>
          <a:p>
            <a:pPr algn="l" lvl="1">
              <a:spcAft>
                <a:spcPts val="900"/>
              </a:spcAft>
            </a:pPr>
            <a:r>
              <a:rPr sz="1600" b="0" i="0">
                <a:solidFill>
                  <a:srgbClr val="6B7A82"/>
                </a:solidFill>
                <a:latin typeface="Calibri"/>
              </a:rPr>
              <a:t>–  A fair, community-first program that protects both our members and RIVR Tech.</a:t>
            </a:r>
          </a:p>
        </p:txBody>
      </p:sp>
      <p:sp>
        <p:nvSpPr>
          <p:cNvPr id="9" name="Rectangle 8"/>
          <p:cNvSpPr/>
          <p:nvPr/>
        </p:nvSpPr>
        <p:spPr>
          <a:xfrm>
            <a:off x="640080" y="5669280"/>
            <a:ext cx="10972800" cy="640080"/>
          </a:xfrm>
          <a:prstGeom prst="rect">
            <a:avLst/>
          </a:prstGeom>
          <a:solidFill>
            <a:srgbClr val="C05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742432"/>
            <a:ext cx="10607040" cy="502920"/>
          </a:xfrm>
          <a:prstGeom prst="rect">
            <a:avLst/>
          </a:prstGeom>
          <a:noFill/>
        </p:spPr>
        <p:txBody>
          <a:bodyPr wrap="none">
            <a:spAutoFit/>
          </a:bodyPr>
          <a:lstStyle/>
          <a:p>
            <a:pPr algn="ctr">
              <a:spcAft>
                <a:spcPts val="600"/>
              </a:spcAft>
            </a:pPr>
            <a:r>
              <a:rPr sz="1300" b="1" i="0">
                <a:solidFill>
                  <a:srgbClr val="FFFFFF"/>
                </a:solidFill>
                <a:latin typeface="Calibri"/>
              </a:rPr>
              <a:t>Fair to members. Fair to RIVR Tech. Not legal advice — review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