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7D8A"/>
            </a:solidFill>
          </c:spPr>
          <c:cat>
            <c:strRef>
              <c:f>Sheet1!$A$2:$A$6</c:f>
              <c:strCache>
                <c:ptCount val="5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5115204</c:v>
                </c:pt>
                <c:pt idx="1">
                  <c:v>6564951</c:v>
                </c:pt>
                <c:pt idx="2">
                  <c:v>8132975</c:v>
                </c:pt>
                <c:pt idx="3">
                  <c:v>9604573</c:v>
                </c:pt>
                <c:pt idx="4">
                  <c:v>10862324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$#,##0,,&quot;M&quot;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1F3B4D"/>
            </a:solidFill>
          </c:spPr>
          <c:cat>
            <c:strRef>
              <c:f>Sheet1!$A$2:$A$6</c:f>
              <c:strCache>
                <c:ptCount val="5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6180</c:v>
                </c:pt>
                <c:pt idx="1">
                  <c:v>7733</c:v>
                </c:pt>
                <c:pt idx="2">
                  <c:v>9236</c:v>
                </c:pt>
                <c:pt idx="3">
                  <c:v>10477</c:v>
                </c:pt>
                <c:pt idx="4">
                  <c:v>11425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5-yr $</c:v>
                </c:pt>
              </c:strCache>
            </c:strRef>
          </c:tx>
          <c:spPr>
            <a:solidFill>
              <a:srgbClr val="2E7D8A"/>
            </a:solidFill>
          </c:spPr>
          <c:cat>
            <c:strRef>
              <c:f>Sheet1!$A$2:$A$7</c:f>
              <c:strCache>
                <c:ptCount val="6"/>
                <c:pt idx="0">
                  <c:v>OLT, cabinet &amp; access-</c:v>
                </c:pt>
                <c:pt idx="1">
                  <c:v>Business &amp; enterprise </c:v>
                </c:pt>
                <c:pt idx="2">
                  <c:v>Fiber backbone constru</c:v>
                </c:pt>
                <c:pt idx="3">
                  <c:v>Grant matching funds</c:v>
                </c:pt>
                <c:pt idx="4">
                  <c:v>Distribution fiber con</c:v>
                </c:pt>
                <c:pt idx="5">
                  <c:v>Fiber-to-the-home expa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3250000</c:v>
                </c:pt>
                <c:pt idx="1">
                  <c:v>3500000</c:v>
                </c:pt>
                <c:pt idx="2">
                  <c:v>4000000</c:v>
                </c:pt>
                <c:pt idx="3">
                  <c:v>5000000</c:v>
                </c:pt>
                <c:pt idx="4">
                  <c:v>6500000</c:v>
                </c:pt>
                <c:pt idx="5">
                  <c:v>11750000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$#,##0,,&quot;M&quot;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Residential</c:v>
                </c:pt>
              </c:strCache>
            </c:strRef>
          </c:tx>
          <c:spPr>
            <a:solidFill>
              <a:srgbClr val="1F3B4D"/>
            </a:solidFill>
          </c:spPr>
          <c:cat>
            <c:strRef>
              <c:f>Sheet1!$A$2:$A$6</c:f>
              <c:strCache>
                <c:ptCount val="5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5699</c:v>
                </c:pt>
                <c:pt idx="1">
                  <c:v>7122</c:v>
                </c:pt>
                <c:pt idx="2">
                  <c:v>8489</c:v>
                </c:pt>
                <c:pt idx="3">
                  <c:v>9605</c:v>
                </c:pt>
                <c:pt idx="4">
                  <c:v>10448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Business</c:v>
                </c:pt>
              </c:strCache>
            </c:strRef>
          </c:tx>
          <c:spPr>
            <a:solidFill>
              <a:srgbClr val="2E7D8A"/>
            </a:solidFill>
          </c:spPr>
          <c:cat>
            <c:strRef>
              <c:f>Sheet1!$A$2:$A$6</c:f>
              <c:strCache>
                <c:ptCount val="5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462</c:v>
                </c:pt>
                <c:pt idx="1">
                  <c:v>585</c:v>
                </c:pt>
                <c:pt idx="2">
                  <c:v>713</c:v>
                </c:pt>
                <c:pt idx="3">
                  <c:v>831</c:v>
                </c:pt>
                <c:pt idx="4">
                  <c:v>930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Enterprise</c:v>
                </c:pt>
              </c:strCache>
            </c:strRef>
          </c:tx>
          <c:spPr>
            <a:solidFill>
              <a:srgbClr val="E18A2B"/>
            </a:solidFill>
          </c:spPr>
          <c:cat>
            <c:strRef>
              <c:f>Sheet1!$A$2:$A$6</c:f>
              <c:strCache>
                <c:ptCount val="5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19</c:v>
                </c:pt>
                <c:pt idx="1">
                  <c:v>26</c:v>
                </c:pt>
                <c:pt idx="2">
                  <c:v>34</c:v>
                </c:pt>
                <c:pt idx="3">
                  <c:v>41</c:v>
                </c:pt>
                <c:pt idx="4">
                  <c:v>47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2E7D5A"/>
            </a:solidFill>
          </c:spPr>
          <c:cat>
            <c:strRef>
              <c:f>Sheet1!$A$2:$A$6</c:f>
              <c:strCache>
                <c:ptCount val="5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264394</c:v>
                </c:pt>
                <c:pt idx="1">
                  <c:v>884347</c:v>
                </c:pt>
                <c:pt idx="2">
                  <c:v>1555169</c:v>
                </c:pt>
                <c:pt idx="3">
                  <c:v>2183587</c:v>
                </c:pt>
                <c:pt idx="4">
                  <c:v>2649820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$#,##0,,&quot;M&quot;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spPr>
            <a:solidFill>
              <a:srgbClr val="1F3B4D"/>
            </a:solidFill>
          </c:spPr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21</c:v>
                </c:pt>
                <c:pt idx="2">
                  <c:v>26</c:v>
                </c:pt>
                <c:pt idx="3">
                  <c:v>31</c:v>
                </c:pt>
                <c:pt idx="4">
                  <c:v>35</c:v>
                </c:pt>
                <c:pt idx="5">
                  <c:v>39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94760"/>
            <a:ext cx="12191695" cy="73152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RIVR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9EC3CC"/>
                </a:solidFill>
                <a:latin typeface="Calibri"/>
              </a:rPr>
              <a:t>LREMC Technologies, LLC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Five-Year Business Plan  ·  FY2027–FY2031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7548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C9DAEA"/>
                </a:solidFill>
                <a:latin typeface="Calibri"/>
              </a:rPr>
              <a:t>Fiber-Optic Broadband for Southeastern North Carolina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  <a:latin typeface="Calibri"/>
              </a:rPr>
              <a:t>Prepared for the CEO, Executive Leadership Team &amp; Board of Directors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Strategic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9EC3CC"/>
                </a:solidFill>
                <a:latin typeface="Calibri"/>
              </a:rPr>
              <a:t>WHERE WE ARE GOING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2E7D8A"/>
                </a:solidFill>
                <a:latin typeface="Calibri"/>
              </a:rPr>
              <a:t>▸ Mission — </a:t>
            </a:r>
            <a:r>
              <a:rPr sz="1600">
                <a:solidFill>
                  <a:srgbClr val="1F3B4D"/>
                </a:solidFill>
                <a:latin typeface="Calibri"/>
              </a:rPr>
              <a:t>Grow RIVR Tech into a financially sustainable regional broadband provider for southeastern North Carolina.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2E7D8A"/>
                </a:solidFill>
                <a:latin typeface="Calibri"/>
              </a:rPr>
              <a:t>▸ Reliability first — </a:t>
            </a:r>
            <a:r>
              <a:rPr sz="1600">
                <a:solidFill>
                  <a:srgbClr val="1F3B4D"/>
                </a:solidFill>
                <a:latin typeface="Calibri"/>
              </a:rPr>
              <a:t>Maintain ≥99.85% availability with redundancy, monitoring, and a funded lifecycle-refresh program.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2E7D8A"/>
                </a:solidFill>
                <a:latin typeface="Calibri"/>
              </a:rPr>
              <a:t>▸ Disciplined capital — </a:t>
            </a:r>
            <a:r>
              <a:rPr sz="1600">
                <a:solidFill>
                  <a:srgbClr val="1F3B4D"/>
                </a:solidFill>
                <a:latin typeface="Calibri"/>
              </a:rPr>
              <a:t>Deploy $10M/yr against demand-led, ROI-gated projects; hold reserves rather than force spend.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2E7D8A"/>
                </a:solidFill>
                <a:latin typeface="Calibri"/>
              </a:rPr>
              <a:t>▸ Move up-market — </a:t>
            </a:r>
            <a:r>
              <a:rPr sz="1600">
                <a:solidFill>
                  <a:srgbClr val="1F3B4D"/>
                </a:solidFill>
                <a:latin typeface="Calibri"/>
              </a:rPr>
              <a:t>Grow higher-ARPU business, enterprise, and wholesale fiber alongside residential.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2E7D8A"/>
                </a:solidFill>
                <a:latin typeface="Calibri"/>
              </a:rPr>
              <a:t>▸ Community &amp; tribal partnerships — </a:t>
            </a:r>
            <a:r>
              <a:rPr sz="1600">
                <a:solidFill>
                  <a:srgbClr val="1F3B4D"/>
                </a:solidFill>
                <a:latin typeface="Calibri"/>
              </a:rPr>
              <a:t>Extend fiber to unserved and underserved areas, leveraging grants.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463040"/>
            <a:ext cx="3931920" cy="12801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463040"/>
            <a:ext cx="3931920" cy="82296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0688" y="1627632"/>
            <a:ext cx="37124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2031 revenue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1965960"/>
            <a:ext cx="37124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E7D8A"/>
                </a:solidFill>
                <a:latin typeface="Calibri"/>
              </a:rPr>
              <a:t>$10.9M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2926080"/>
            <a:ext cx="3931920" cy="12801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2926080"/>
            <a:ext cx="3931920" cy="82296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3090672"/>
            <a:ext cx="37124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2031 subscribers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429000"/>
            <a:ext cx="37124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3B4D"/>
                </a:solidFill>
                <a:latin typeface="Calibri"/>
              </a:rPr>
              <a:t>11,425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389120"/>
            <a:ext cx="3931920" cy="12801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0" y="4389120"/>
            <a:ext cx="3931920" cy="82296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4553712"/>
            <a:ext cx="37124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2031 EBITDA margin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4892040"/>
            <a:ext cx="37124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E7D5A"/>
                </a:solidFill>
                <a:latin typeface="Calibri"/>
              </a:rPr>
              <a:t>24%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RIVR Tech · LREMC Technologies, LLC · Five-Year Plan FY2027–FY2031 ·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0606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Current Operating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9EC3CC"/>
                </a:solidFill>
                <a:latin typeface="Calibri"/>
              </a:rPr>
              <a:t>STARTING POINT —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06040" cy="12344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06040" cy="82296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36192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Internet subscribers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74520"/>
            <a:ext cx="238658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3B4D"/>
                </a:solidFill>
                <a:latin typeface="Calibri"/>
              </a:rPr>
              <a:t>4,686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71600"/>
            <a:ext cx="2606040" cy="12344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606040" cy="82296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536192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Voice subscribers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1874520"/>
            <a:ext cx="238658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3B4D"/>
                </a:solidFill>
                <a:latin typeface="Calibri"/>
              </a:rPr>
              <a:t>502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79" y="1371600"/>
            <a:ext cx="2606040" cy="12344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79" y="1371600"/>
            <a:ext cx="2606040" cy="82296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7" y="1536192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Res broadband ARPU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7" y="1874520"/>
            <a:ext cx="238658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E7D8A"/>
                </a:solidFill>
                <a:latin typeface="Calibri"/>
              </a:rPr>
              <a:t>$66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399" y="1371600"/>
            <a:ext cx="2606040" cy="12344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5399" y="1371600"/>
            <a:ext cx="2606040" cy="82296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5127" y="1536192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Biz broadband ARPU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7" y="1874520"/>
            <a:ext cx="238658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E7D8A"/>
                </a:solidFill>
                <a:latin typeface="Calibri"/>
              </a:rPr>
              <a:t>$110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834640"/>
            <a:ext cx="2606040" cy="12344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834640"/>
            <a:ext cx="2606040" cy="82296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999232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Op. revenue (annualized)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337560"/>
            <a:ext cx="238658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E7D8A"/>
                </a:solidFill>
                <a:latin typeface="Calibri"/>
              </a:rPr>
              <a:t>$4.1M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2834640"/>
            <a:ext cx="2606040" cy="12344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37560" y="2834640"/>
            <a:ext cx="2606040" cy="82296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47288" y="2999232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EBITDA (annualized)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337560"/>
            <a:ext cx="238658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E18A2B"/>
                </a:solidFill>
                <a:latin typeface="Calibri"/>
              </a:rPr>
              <a:t>-$0.14M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79" y="2834640"/>
            <a:ext cx="2606040" cy="12344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79" y="2834640"/>
            <a:ext cx="2606040" cy="82296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7" y="2999232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Grant awards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7" y="3337560"/>
            <a:ext cx="238658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E7D5A"/>
                </a:solidFill>
                <a:latin typeface="Calibri"/>
              </a:rPr>
              <a:t>$11.6M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15399" y="2834640"/>
            <a:ext cx="2606040" cy="12344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15399" y="2834640"/>
            <a:ext cx="2606040" cy="82296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5127" y="2999232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Authorized staff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7" y="3337560"/>
            <a:ext cx="238658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3B4D"/>
                </a:solidFill>
                <a:latin typeface="Calibri"/>
              </a:rPr>
              <a:t>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4348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606060"/>
                </a:solidFill>
                <a:latin typeface="Calibri"/>
              </a:rPr>
              <a:t>Based on actual Q2-2026 results (BOD deck): ~$4.1M annualized operating revenue, roughly EBITDA break-even (slight operating loss), net-income-positive on ~$1.1M/yr grant income, and ~$0.46M/yr interest on existing debt. $11.6M of construction grants awarded (CAB 2.0, NC Stop GAP, BTAP). Subscriber splits, ARPU detail, and labor rates remain partly estimated.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RIVR Tech · LREMC Technologies, LLC · Five-Year Plan FY2027–FY2031 ·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0606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Five-Year Goals (Base Case)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9EC3CC"/>
                </a:solidFill>
                <a:latin typeface="Calibri"/>
              </a:rPr>
              <a:t>THE PLAN AT A GLANCE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557784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0624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606060"/>
                </a:solidFill>
                <a:latin typeface="Calibri"/>
              </a:rPr>
              <a:t>Revenue ($)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09360" y="1371600"/>
          <a:ext cx="5486400" cy="2834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42062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606060"/>
                </a:solidFill>
                <a:latin typeface="Calibri"/>
              </a:rPr>
              <a:t>Ending subscribers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2743200" cy="12801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800600"/>
            <a:ext cx="2743200" cy="82296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965192"/>
            <a:ext cx="25237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Revenue 2027→2031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303520"/>
            <a:ext cx="25237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E7D8A"/>
                </a:solidFill>
                <a:latin typeface="Calibri"/>
              </a:rPr>
              <a:t>$5.1M→$10.9M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4800600"/>
            <a:ext cx="2743200" cy="12801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4800600"/>
            <a:ext cx="2743200" cy="82296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4965192"/>
            <a:ext cx="25237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EBITDA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5303520"/>
            <a:ext cx="25237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E7D5A"/>
                </a:solidFill>
                <a:latin typeface="Calibri"/>
              </a:rPr>
              <a:t>5%→24%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800600"/>
            <a:ext cx="2743200" cy="12801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800600"/>
            <a:ext cx="2743200" cy="82296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4965192"/>
            <a:ext cx="25237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Subscribers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5303520"/>
            <a:ext cx="25237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3B4D"/>
                </a:solidFill>
                <a:latin typeface="Calibri"/>
              </a:rPr>
              <a:t>6,180→11,425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4800600"/>
            <a:ext cx="2468880" cy="12801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4800600"/>
            <a:ext cx="2468880" cy="82296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8" y="4965192"/>
            <a:ext cx="22494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Headcount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5303520"/>
            <a:ext cx="224942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3B4D"/>
                </a:solidFill>
                <a:latin typeface="Calibri"/>
              </a:rPr>
              <a:t>18→39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RIVR Tech · LREMC Technologies, LLC · Five-Year Plan FY2027–FY2031 ·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0606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$50 Million Capital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9EC3CC"/>
                </a:solidFill>
                <a:latin typeface="Calibri"/>
              </a:rPr>
              <a:t>$10M PER YEAR · DISCIPLINED DEPLOYMENT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58521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62356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606060"/>
                </a:solidFill>
                <a:latin typeface="Calibri"/>
              </a:rPr>
              <a:t>Top capital categories — 5-year 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46304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D8A"/>
                </a:solidFill>
                <a:latin typeface="Calibri"/>
              </a:rPr>
              <a:t>▸ $50.0M over five years — </a:t>
            </a:r>
            <a:r>
              <a:rPr sz="1500">
                <a:solidFill>
                  <a:srgbClr val="1F3B4D"/>
                </a:solidFill>
                <a:latin typeface="Calibri"/>
              </a:rPr>
              <a:t>$10.0M available each year across 16 categories.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D8A"/>
                </a:solidFill>
                <a:latin typeface="Calibri"/>
              </a:rPr>
              <a:t>▸ $48.9M deployed — </a:t>
            </a:r>
            <a:r>
              <a:rPr sz="1500">
                <a:solidFill>
                  <a:srgbClr val="1F3B4D"/>
                </a:solidFill>
                <a:latin typeface="Calibri"/>
              </a:rPr>
              <a:t>balance held as reserve/carryforward; full spend not forced.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D8A"/>
                </a:solidFill>
                <a:latin typeface="Calibri"/>
              </a:rPr>
              <a:t>▸ Revenue-generating plant first — </a:t>
            </a:r>
            <a:r>
              <a:rPr sz="1500">
                <a:solidFill>
                  <a:srgbClr val="1F3B4D"/>
                </a:solidFill>
                <a:latin typeface="Calibri"/>
              </a:rPr>
              <a:t>FTTH, distribution, backbone, business/enterprise ≈ 52%.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D8A"/>
                </a:solidFill>
                <a:latin typeface="Calibri"/>
              </a:rPr>
              <a:t>▸ Grant matching fully funded — </a:t>
            </a:r>
            <a:r>
              <a:rPr sz="1500">
                <a:solidFill>
                  <a:srgbClr val="1F3B4D"/>
                </a:solidFill>
                <a:latin typeface="Calibri"/>
              </a:rPr>
              <a:t>leverages external capital into unserved areas.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D8A"/>
                </a:solidFill>
                <a:latin typeface="Calibri"/>
              </a:rPr>
              <a:t>▸ ROI-gated, demand-led — </a:t>
            </a:r>
            <a:r>
              <a:rPr sz="1500">
                <a:solidFill>
                  <a:srgbClr val="1F3B4D"/>
                </a:solidFill>
                <a:latin typeface="Calibri"/>
              </a:rPr>
              <a:t>every project cleared on payback and take-rate thresholds.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RIVR Tech · LREMC Technologies, LLC · Five-Year Plan FY2027–FY2031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0606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$2 Million Equipment-Refresh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9EC3CC"/>
                </a:solidFill>
                <a:latin typeface="Calibri"/>
              </a:rPr>
              <a:t>LIFECYCLE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474720" cy="13716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474720" cy="82296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27632"/>
            <a:ext cx="32552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Per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32552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E7D8A"/>
                </a:solidFill>
                <a:latin typeface="Calibri"/>
              </a:rPr>
              <a:t>$400,000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463040"/>
            <a:ext cx="3474720" cy="13716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463040"/>
            <a:ext cx="3474720" cy="82296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627632"/>
            <a:ext cx="32552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Over five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1965960"/>
            <a:ext cx="32552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E7D8A"/>
                </a:solidFill>
                <a:latin typeface="Calibri"/>
              </a:rPr>
              <a:t>$2,000,000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463040"/>
            <a:ext cx="3749039" cy="13716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1463040"/>
            <a:ext cx="3749039" cy="82296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1627632"/>
            <a:ext cx="35295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Treatment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1965960"/>
            <a:ext cx="352958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3B4D"/>
                </a:solidFill>
                <a:latin typeface="Calibri"/>
              </a:rPr>
              <a:t>Inside $10M (adjustable)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>
                <a:solidFill>
                  <a:srgbClr val="2E7D8A"/>
                </a:solidFill>
                <a:latin typeface="Calibri"/>
              </a:rPr>
              <a:t>▸ Committed, not scaled — </a:t>
            </a:r>
            <a:r>
              <a:rPr sz="1500">
                <a:solidFill>
                  <a:srgbClr val="1F3B4D"/>
                </a:solidFill>
                <a:latin typeface="Calibri"/>
              </a:rPr>
              <a:t>the refresh is fixed at $400K every year and is never reduced by deployment pace.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2E7D8A"/>
                </a:solidFill>
                <a:latin typeface="Calibri"/>
              </a:rPr>
              <a:t>▸ No double-counting — </a:t>
            </a:r>
            <a:r>
              <a:rPr sz="1500">
                <a:solidFill>
                  <a:srgbClr val="1F3B4D"/>
                </a:solidFill>
                <a:latin typeface="Calibri"/>
              </a:rPr>
              <a:t>in the base model it sits inside the $10M; an adjustable setting funds it outside (+$400K/yr).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2E7D8A"/>
                </a:solidFill>
                <a:latin typeface="Calibri"/>
              </a:rPr>
              <a:t>▸ What it covers — </a:t>
            </a:r>
            <a:r>
              <a:rPr sz="1500">
                <a:solidFill>
                  <a:srgbClr val="1F3B4D"/>
                </a:solidFill>
                <a:latin typeface="Calibri"/>
              </a:rPr>
              <a:t>core/aggregation, OLT optics, field test gear, splicing tools, fleet tools, servers/storage, security appliances, and an aged-ONT swap pool.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2E7D8A"/>
                </a:solidFill>
                <a:latin typeface="Calibri"/>
              </a:rPr>
              <a:t>▸ Why it matters — </a:t>
            </a:r>
            <a:r>
              <a:rPr sz="1500">
                <a:solidFill>
                  <a:srgbClr val="1F3B4D"/>
                </a:solidFill>
                <a:latin typeface="Calibri"/>
              </a:rPr>
              <a:t>prevents aging-plant failures, emergency capital spend, and the churn that follows outages.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RIVR Tech · LREMC Technologies, LLC · Five-Year Plan FY2027–FY2031 ·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0606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Subscriber &amp; Revenue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9EC3CC"/>
                </a:solidFill>
                <a:latin typeface="Calibri"/>
              </a:rPr>
              <a:t>BASE CASE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56692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4068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606060"/>
                </a:solidFill>
                <a:latin typeface="Calibri"/>
              </a:rPr>
              <a:t>Ending subscribers by segment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92240" y="1371600"/>
          <a:ext cx="521208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92240" y="54406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606060"/>
                </a:solidFill>
                <a:latin typeface="Calibri"/>
              </a:rPr>
              <a:t>EBITDA ($)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RIVR Tech · LREMC Technologies, LLC · Five-Year Plan FY2027–FY2031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0606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Staffing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9EC3CC"/>
                </a:solidFill>
                <a:latin typeface="Calibri"/>
              </a:rPr>
              <a:t>TRIGGER-BASED HIRING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54864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406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606060"/>
                </a:solidFill>
                <a:latin typeface="Calibri"/>
              </a:rPr>
              <a:t>Total headcount (EOY)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2E7D8A"/>
                </a:solidFill>
                <a:latin typeface="Calibri"/>
              </a:rPr>
              <a:t>▸ Today: 15 filled · 3 open · 18 authorized — </a:t>
            </a:r>
            <a:r>
              <a:rPr sz="1400">
                <a:solidFill>
                  <a:srgbClr val="1F3B4D"/>
                </a:solidFill>
                <a:latin typeface="Calibri"/>
              </a:rPr>
              <a:t>fill the 3 vacancies (1 sales rep + 2 fiber technicians) in Year 1.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2E7D8A"/>
                </a:solidFill>
                <a:latin typeface="Calibri"/>
              </a:rPr>
              <a:t>▸ Hire on triggers, not dates — </a:t>
            </a:r>
            <a:r>
              <a:rPr sz="1400">
                <a:solidFill>
                  <a:srgbClr val="1F3B4D"/>
                </a:solidFill>
                <a:latin typeface="Calibri"/>
              </a:rPr>
              <a:t>subscribers, installs/month, tickets/tech, fiber miles, projects, span of control.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2E7D8A"/>
                </a:solidFill>
                <a:latin typeface="Calibri"/>
              </a:rPr>
              <a:t>▸ 2027 — </a:t>
            </a:r>
            <a:r>
              <a:rPr sz="1400">
                <a:solidFill>
                  <a:srgbClr val="1F3B4D"/>
                </a:solidFill>
                <a:latin typeface="Calibri"/>
              </a:rPr>
              <a:t>Network Engineer, NOC Technician, Fiber Splicers.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2E7D8A"/>
                </a:solidFill>
                <a:latin typeface="Calibri"/>
              </a:rPr>
              <a:t>▸ 2028–29 — </a:t>
            </a:r>
            <a:r>
              <a:rPr sz="1400">
                <a:solidFill>
                  <a:srgbClr val="1F3B4D"/>
                </a:solidFill>
                <a:latin typeface="Calibri"/>
              </a:rPr>
              <a:t>sales, support, install/repair, enterprise sales, inspector, GIS.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2E7D8A"/>
                </a:solidFill>
                <a:latin typeface="Calibri"/>
              </a:rPr>
              <a:t>▸ 2030–31 — </a:t>
            </a:r>
            <a:r>
              <a:rPr sz="1400">
                <a:solidFill>
                  <a:srgbClr val="1F3B4D"/>
                </a:solidFill>
                <a:latin typeface="Calibri"/>
              </a:rPr>
              <a:t>OSP supervisor, marketing, Customer Experience Manager, data analyst.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2E7D8A"/>
                </a:solidFill>
                <a:latin typeface="Calibri"/>
              </a:rPr>
              <a:t>▸ 18 → 39 by 2031 — </a:t>
            </a:r>
            <a:r>
              <a:rPr sz="1400">
                <a:solidFill>
                  <a:srgbClr val="1F3B4D"/>
                </a:solidFill>
                <a:latin typeface="Calibri"/>
              </a:rPr>
              <a:t>fully-loaded labor costing throughout.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RIVR Tech · LREMC Technologies, LLC · Five-Year Plan FY2027–FY2031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0606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Financial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9EC3CC"/>
                </a:solidFill>
                <a:latin typeface="Calibri"/>
              </a:rPr>
              <a:t>BASE CASE — $ MILLIONS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7315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70262"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2028</a:t>
                      </a:r>
                    </a:p>
                  </a:txBody>
                  <a:tcPr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2029</a:t>
                      </a:r>
                    </a:p>
                  </a:txBody>
                  <a:tcPr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2030</a:t>
                      </a:r>
                    </a:p>
                  </a:txBody>
                  <a:tcPr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2031</a:t>
                      </a:r>
                    </a:p>
                  </a:txBody>
                  <a:tcPr>
                    <a:solidFill>
                      <a:srgbClr val="1F3B4D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$5.1M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$6.6M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$8.1M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$9.6M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$10.9M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Operating expense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$4.9M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$5.7M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$6.6M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$7.4M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$8.2M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$0.3M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$0.9M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$1.6M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$2.2M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$2.6M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Net income (loss)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$0.1M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$-0.2M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$-0.6M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$-1.0M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$-1.5M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Capital expenditures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$9.6M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$9.8M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$10.0M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$9.8M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$9.7M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Free cash flow (pre-fin.)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$-9.8M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$-9.4M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$-8.9M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$-8.1M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3B4D"/>
                          </a:solidFill>
                          <a:latin typeface="Calibri"/>
                        </a:rPr>
                        <a:t>$-7.5M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0" y="1463040"/>
            <a:ext cx="3383280" cy="9601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463040"/>
            <a:ext cx="3383280" cy="82296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8" y="1627632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EBITDA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9328" y="1965960"/>
            <a:ext cx="316382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E7D5A"/>
                </a:solidFill>
                <a:latin typeface="Calibri"/>
              </a:rPr>
              <a:t>Turns positive 2027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514600"/>
            <a:ext cx="3383280" cy="9601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2514600"/>
            <a:ext cx="3383280" cy="82296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2679192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2031 EBITDA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3017520"/>
            <a:ext cx="316382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E7D8A"/>
                </a:solidFill>
                <a:latin typeface="Calibri"/>
              </a:rPr>
              <a:t>24%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566160"/>
            <a:ext cx="3383280" cy="9601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3566160"/>
            <a:ext cx="3383280" cy="82296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3730752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Grant awards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4069080"/>
            <a:ext cx="316382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E7D5A"/>
                </a:solidFill>
                <a:latin typeface="Calibri"/>
              </a:rPr>
              <a:t>$11.6M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8348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606060"/>
                </a:solidFill>
                <a:latin typeface="Calibri"/>
              </a:rPr>
              <a:t>From ~EBITDA break-even today to positive, scaling EBITDA. GAAP net income is grant-supported early and pressured later by non-cash depreciation on the growing $50M plant — EBITDA is the operating-health metric. Build capital + ~$0.46M/yr interest are funded by the capital program and grant reimbursement (~$1.5–2.5M/yr).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RIVR Tech · LREMC Technologies, LLC · Five-Year Plan FY2027–FY2031 ·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0606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Scenario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9EC3CC"/>
                </a:solidFill>
                <a:latin typeface="Calibri"/>
              </a:rPr>
              <a:t>CONSERVATIVE · BASE · AGGRESSIVE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69494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5-Year metric</a:t>
                      </a:r>
                    </a:p>
                  </a:txBody>
                  <a:tcPr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Conservative</a:t>
                      </a:r>
                    </a:p>
                  </a:txBody>
                  <a:tcPr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Aggressive</a:t>
                      </a:r>
                    </a:p>
                  </a:txBody>
                  <a:tcPr>
                    <a:solidFill>
                      <a:srgbClr val="1F3B4D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Total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$32.6M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B4D"/>
                          </a:solidFill>
                          <a:latin typeface="Calibri"/>
                        </a:rPr>
                        <a:t>$40.3M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$50.6M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Total EBITDA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$0.7M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B4D"/>
                          </a:solidFill>
                          <a:latin typeface="Calibri"/>
                        </a:rPr>
                        <a:t>$7.5M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$14.7M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EBITDA margin (2031)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B4D"/>
                          </a:solidFill>
                          <a:latin typeface="Calibri"/>
                        </a:rPr>
                        <a:t>24%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Capital deployed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$44.5M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B4D"/>
                          </a:solidFill>
                          <a:latin typeface="Calibri"/>
                        </a:rPr>
                        <a:t>$48.9M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$50.0M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Ending subscribers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8,459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B4D"/>
                          </a:solidFill>
                          <a:latin typeface="Calibri"/>
                        </a:rPr>
                        <a:t>11,425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14,996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Ending employees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B4D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1463040"/>
            <a:ext cx="39319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F3B4D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46304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2E7D8A"/>
                </a:solidFill>
                <a:latin typeface="Calibri"/>
              </a:rPr>
              <a:t>▸ Base is recommended — </a:t>
            </a:r>
            <a:r>
              <a:rPr sz="1300">
                <a:solidFill>
                  <a:srgbClr val="1F3B4D"/>
                </a:solidFill>
                <a:latin typeface="Calibri"/>
              </a:rPr>
              <a:t>balances growth with capital discipline.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2E7D8A"/>
                </a:solidFill>
                <a:latin typeface="Calibri"/>
              </a:rPr>
              <a:t>▸ Conservative — </a:t>
            </a:r>
            <a:r>
              <a:rPr sz="1300">
                <a:solidFill>
                  <a:srgbClr val="1F3B4D"/>
                </a:solidFill>
                <a:latin typeface="Calibri"/>
              </a:rPr>
              <a:t>tests slower take-up and higher cost; margins thin.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2E7D8A"/>
                </a:solidFill>
                <a:latin typeface="Calibri"/>
              </a:rPr>
              <a:t>▸ Aggressive — </a:t>
            </a:r>
            <a:r>
              <a:rPr sz="1300">
                <a:solidFill>
                  <a:srgbClr val="1F3B4D"/>
                </a:solidFill>
                <a:latin typeface="Calibri"/>
              </a:rPr>
              <a:t>faster build lifts EBITDA to ~38% but strains hiring &amp; CAC.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2E7D8A"/>
                </a:solidFill>
                <a:latin typeface="Calibri"/>
              </a:rPr>
              <a:t>▸ All three — </a:t>
            </a:r>
            <a:r>
              <a:rPr sz="1300">
                <a:solidFill>
                  <a:srgbClr val="1F3B4D"/>
                </a:solidFill>
                <a:latin typeface="Calibri"/>
              </a:rPr>
              <a:t>stay within the $50M funding envelope.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RIVR Tech · LREMC Technologies, LLC · Five-Year Plan FY2027–FY2031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0606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Principal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9EC3CC"/>
                </a:solidFill>
                <a:latin typeface="Calibri"/>
              </a:rPr>
              <a:t>SCORED · OWNED · MITIGATED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1F3B4D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Construction-cost inflation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18A2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CFO / Dir OSP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Grant compliance / clawback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18A2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CFO / Grants Mgr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Subscriber growth below forecast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18A2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VP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Cybersecurity &amp; network outages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18A2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IT / CISO / NOC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Workforce shortages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18A2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COO /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Pole-attachment &amp; permitting delays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Dir OSP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Cash-flow timing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CFO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Overbuilding low-take areas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B4D"/>
                          </a:solidFill>
                          <a:latin typeface="Calibri"/>
                        </a:rPr>
                        <a:t>CEO / CFO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  <a:latin typeface="Calibri"/>
              </a:rPr>
              <a:t>Full 19-risk register with probability × impact scoring on the Excel 'Risk Register' tab.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RIVR Tech · LREMC Technologies, LLC · Five-Year Plan FY2027–FY2031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0606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Year 1 Priorities (2027)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9EC3CC"/>
                </a:solidFill>
                <a:latin typeface="Calibri"/>
              </a:rPr>
              <a:t>EXECUTE THE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D8A"/>
                </a:solidFill>
                <a:latin typeface="Calibri"/>
              </a:rPr>
              <a:t>▸ Fill the 3 vacancies — </a:t>
            </a:r>
            <a:r>
              <a:rPr sz="1500">
                <a:solidFill>
                  <a:srgbClr val="1F3B4D"/>
                </a:solidFill>
                <a:latin typeface="Calibri"/>
              </a:rPr>
              <a:t>1 sales rep + 2 fiber technicians.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D8A"/>
                </a:solidFill>
                <a:latin typeface="Calibri"/>
              </a:rPr>
              <a:t>▸ Capital governance — </a:t>
            </a:r>
            <a:r>
              <a:rPr sz="1500">
                <a:solidFill>
                  <a:srgbClr val="1F3B4D"/>
                </a:solidFill>
                <a:latin typeface="Calibri"/>
              </a:rPr>
              <a:t>finalize allocation governance &amp; the ROI gate.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D8A"/>
                </a:solidFill>
                <a:latin typeface="Calibri"/>
              </a:rPr>
              <a:t>▸ Equipment refresh — </a:t>
            </a:r>
            <a:r>
              <a:rPr sz="1500">
                <a:solidFill>
                  <a:srgbClr val="1F3B4D"/>
                </a:solidFill>
                <a:latin typeface="Calibri"/>
              </a:rPr>
              <a:t>establish the $400K schedule &amp; lifecycle standards.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D8A"/>
                </a:solidFill>
                <a:latin typeface="Calibri"/>
              </a:rPr>
              <a:t>▸ Construction priorities — </a:t>
            </a:r>
            <a:r>
              <a:rPr sz="1500">
                <a:solidFill>
                  <a:srgbClr val="1F3B4D"/>
                </a:solidFill>
                <a:latin typeface="Calibri"/>
              </a:rPr>
              <a:t>set prioritization criteria for the build.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D8A"/>
                </a:solidFill>
                <a:latin typeface="Calibri"/>
              </a:rPr>
              <a:t>▸ KPI reporting — </a:t>
            </a:r>
            <a:r>
              <a:rPr sz="1500">
                <a:solidFill>
                  <a:srgbClr val="1F3B4D"/>
                </a:solidFill>
                <a:latin typeface="Calibri"/>
              </a:rPr>
              <a:t>stand up monthly KPI reporting from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D8A"/>
                </a:solidFill>
                <a:latin typeface="Calibri"/>
              </a:rPr>
              <a:t>▸ Hiring triggers — </a:t>
            </a:r>
            <a:r>
              <a:rPr sz="1500">
                <a:solidFill>
                  <a:srgbClr val="1F3B4D"/>
                </a:solidFill>
                <a:latin typeface="Calibri"/>
              </a:rPr>
              <a:t>publish the trigger framework for future roles.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D8A"/>
                </a:solidFill>
                <a:latin typeface="Calibri"/>
              </a:rPr>
              <a:t>▸ Quarterly forecasts — </a:t>
            </a:r>
            <a:r>
              <a:rPr sz="1500">
                <a:solidFill>
                  <a:srgbClr val="1F3B4D"/>
                </a:solidFill>
                <a:latin typeface="Calibri"/>
              </a:rPr>
              <a:t>begin quarterly forecast updates.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D8A"/>
                </a:solidFill>
                <a:latin typeface="Calibri"/>
              </a:rPr>
              <a:t>▸ Project ROI reviews — </a:t>
            </a:r>
            <a:r>
              <a:rPr sz="1500">
                <a:solidFill>
                  <a:srgbClr val="1F3B4D"/>
                </a:solidFill>
                <a:latin typeface="Calibri"/>
              </a:rPr>
              <a:t>launch project-level ROI review.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D8A"/>
                </a:solidFill>
                <a:latin typeface="Calibri"/>
              </a:rPr>
              <a:t>▸ Lifecycle standards — </a:t>
            </a:r>
            <a:r>
              <a:rPr sz="1500">
                <a:solidFill>
                  <a:srgbClr val="1F3B4D"/>
                </a:solidFill>
                <a:latin typeface="Calibri"/>
              </a:rPr>
              <a:t>adopt equipment replacement standards.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D8A"/>
                </a:solidFill>
                <a:latin typeface="Calibri"/>
              </a:rPr>
              <a:t>▸ Board cadence — </a:t>
            </a:r>
            <a:r>
              <a:rPr sz="1500">
                <a:solidFill>
                  <a:srgbClr val="1F3B4D"/>
                </a:solidFill>
                <a:latin typeface="Calibri"/>
              </a:rPr>
              <a:t>Year-1 KPI review to the Board each quarter.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RIVR Tech · LREMC Technologies, LLC · Five-Year Plan FY2027–FY2031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0606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Decisions Required from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9EC3CC"/>
                </a:solidFill>
                <a:latin typeface="Calibri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700" b="1">
                <a:solidFill>
                  <a:srgbClr val="2E7D8A"/>
                </a:solidFill>
                <a:latin typeface="Calibri"/>
              </a:rPr>
              <a:t>▸ 1. Adopt the Base Case </a:t>
            </a:r>
            <a:r>
              <a:rPr sz="1700">
                <a:solidFill>
                  <a:srgbClr val="1F3B4D"/>
                </a:solidFill>
                <a:latin typeface="Calibri"/>
              </a:rPr>
              <a:t>as the operating plan for FY2027–FY2031.</a:t>
            </a:r>
          </a:p>
          <a:p>
            <a:pPr algn="l">
              <a:spcAft>
                <a:spcPts val="1600"/>
              </a:spcAft>
            </a:pPr>
            <a:r>
              <a:rPr sz="1700" b="1">
                <a:solidFill>
                  <a:srgbClr val="2E7D8A"/>
                </a:solidFill>
                <a:latin typeface="Calibri"/>
              </a:rPr>
              <a:t>▸ 2. Approve the $50M capital allocation </a:t>
            </a:r>
            <a:r>
              <a:rPr sz="1700">
                <a:solidFill>
                  <a:srgbClr val="1F3B4D"/>
                </a:solidFill>
                <a:latin typeface="Calibri"/>
              </a:rPr>
              <a:t>and the capital-governance / ROI-gate process.</a:t>
            </a:r>
          </a:p>
          <a:p>
            <a:pPr algn="l">
              <a:spcAft>
                <a:spcPts val="1600"/>
              </a:spcAft>
            </a:pPr>
            <a:r>
              <a:rPr sz="1700" b="1">
                <a:solidFill>
                  <a:srgbClr val="2E7D8A"/>
                </a:solidFill>
                <a:latin typeface="Calibri"/>
              </a:rPr>
              <a:t>▸ 3. Authorize the equipment-refresh program </a:t>
            </a:r>
            <a:r>
              <a:rPr sz="1700">
                <a:solidFill>
                  <a:srgbClr val="1F3B4D"/>
                </a:solidFill>
                <a:latin typeface="Calibri"/>
              </a:rPr>
              <a:t>at $400K/yr ($2M / 5yr) and lifecycle standards.</a:t>
            </a:r>
          </a:p>
          <a:p>
            <a:pPr algn="l">
              <a:spcAft>
                <a:spcPts val="1600"/>
              </a:spcAft>
            </a:pPr>
            <a:r>
              <a:rPr sz="1700" b="1">
                <a:solidFill>
                  <a:srgbClr val="2E7D8A"/>
                </a:solidFill>
                <a:latin typeface="Calibri"/>
              </a:rPr>
              <a:t>▸ 4. Approve trigger-based staffing </a:t>
            </a:r>
            <a:r>
              <a:rPr sz="1700">
                <a:solidFill>
                  <a:srgbClr val="1F3B4D"/>
                </a:solidFill>
                <a:latin typeface="Calibri"/>
              </a:rPr>
              <a:t>— fill 3 vacancies now; add roles as triggers are met.</a:t>
            </a:r>
          </a:p>
          <a:p>
            <a:pPr algn="l">
              <a:spcAft>
                <a:spcPts val="1600"/>
              </a:spcAft>
            </a:pPr>
            <a:r>
              <a:rPr sz="1700" b="1">
                <a:solidFill>
                  <a:srgbClr val="2E7D8A"/>
                </a:solidFill>
                <a:latin typeface="Calibri"/>
              </a:rPr>
              <a:t>▸ 5. Endorse the KPI &amp; forecast disciplines </a:t>
            </a:r>
            <a:r>
              <a:rPr sz="1700">
                <a:solidFill>
                  <a:srgbClr val="1F3B4D"/>
                </a:solidFill>
                <a:latin typeface="Calibri"/>
              </a:rPr>
              <a:t>— monthly KPIs, quarterly forecasts, project ROI reviews.</a:t>
            </a:r>
          </a:p>
          <a:p>
            <a:pPr algn="l">
              <a:spcAft>
                <a:spcPts val="1600"/>
              </a:spcAft>
            </a:pPr>
            <a:r>
              <a:rPr sz="1700" b="1">
                <a:solidFill>
                  <a:srgbClr val="2E7D8A"/>
                </a:solidFill>
                <a:latin typeface="Calibri"/>
              </a:rPr>
              <a:t>▸ 6. Direct data collection </a:t>
            </a:r>
            <a:r>
              <a:rPr sz="1700">
                <a:solidFill>
                  <a:srgbClr val="1F3B4D"/>
                </a:solidFill>
                <a:latin typeface="Calibri"/>
              </a:rPr>
              <a:t>to replace placeholders (subscriber split, ARPU, passings, labor rates, plant/depreciation, grant terms).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3B4D"/>
                </a:solidFill>
                <a:latin typeface="Calibri"/>
              </a:rPr>
              <a:t>Minimum to justify the investment: ≈9,711 subscribers and ≥$9.2M revenue by 2031, with 2031 EBITDA margin ≥20%.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RIVR Tech · LREMC Technologies, LLC · Five-Year Plan FY2027–FY2031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0606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73152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Building RIVR Tech's Fiber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74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9EC3CC"/>
                </a:solidFill>
                <a:latin typeface="Calibri"/>
              </a:rPr>
              <a:t>$10.9M revenue · 24% EBITDA margin · 11,425 subscribers by 2031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C9DAEA"/>
                </a:solidFill>
                <a:latin typeface="Calibri"/>
              </a:rPr>
              <a:t>Disciplined $50M build · $2M lifecycle refresh · trigger-based staffing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Companion files: Excel financial model + Word business plan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